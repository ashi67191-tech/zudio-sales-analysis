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4FF"/>
        </a:solidFill>
        <a:effectLst/>
      </p:bgPr>
    </p:bg>
    <p:spTree>
      <p:nvGrpSpPr>
        <p:cNvPr id="1" name=""/>
        <p:cNvGrpSpPr/>
        <p:nvPr/>
      </p:nvGrpSpPr>
      <p:grpSpPr/>
      <p:sp>
        <p:nvSpPr>
          <p:cNvPr id="2" name="Rounded Rectangle 1"/>
          <p:cNvSpPr/>
          <p:nvPr/>
        </p:nvSpPr>
        <p:spPr>
          <a:xfrm>
            <a:off x="5760720" y="502920"/>
            <a:ext cx="5897880" cy="5806440"/>
          </a:xfrm>
          <a:prstGeom prst="roundRect">
            <a:avLst/>
          </a:prstGeom>
          <a:solidFill>
            <a:srgbClr val="FFFFFF"/>
          </a:solidFill>
          <a:ln>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Zudio Retail Sales Analytics Dashboard.png"/>
          <p:cNvPicPr>
            <a:picLocks noChangeAspect="1"/>
          </p:cNvPicPr>
          <p:nvPr/>
        </p:nvPicPr>
        <p:blipFill>
          <a:blip r:embed="rId2"/>
          <a:stretch>
            <a:fillRect/>
          </a:stretch>
        </p:blipFill>
        <p:spPr>
          <a:xfrm>
            <a:off x="5925312" y="713232"/>
            <a:ext cx="5577840" cy="5440680"/>
          </a:xfrm>
          <a:prstGeom prst="rect">
            <a:avLst/>
          </a:prstGeom>
        </p:spPr>
      </p:pic>
      <p:sp>
        <p:nvSpPr>
          <p:cNvPr id="4" name="TextBox 3"/>
          <p:cNvSpPr txBox="1"/>
          <p:nvPr/>
        </p:nvSpPr>
        <p:spPr>
          <a:xfrm>
            <a:off x="640080" y="868680"/>
            <a:ext cx="4800600" cy="457200"/>
          </a:xfrm>
          <a:prstGeom prst="rect">
            <a:avLst/>
          </a:prstGeom>
          <a:noFill/>
        </p:spPr>
        <p:txBody>
          <a:bodyPr wrap="square" anchor="t">
            <a:spAutoFit/>
          </a:bodyPr>
          <a:lstStyle/>
          <a:p>
            <a:pPr>
              <a:spcAft>
                <a:spcPts val="700"/>
              </a:spcAft>
              <a:defRPr sz="1700" b="1">
                <a:solidFill>
                  <a:srgbClr val="EC4997"/>
                </a:solidFill>
                <a:latin typeface="Aptos"/>
              </a:defRPr>
            </a:pPr>
            <a:r>
              <a:t>ZUDIO | RETAIL</a:t>
            </a:r>
          </a:p>
        </p:txBody>
      </p:sp>
      <p:sp>
        <p:nvSpPr>
          <p:cNvPr id="5" name="TextBox 4"/>
          <p:cNvSpPr txBox="1"/>
          <p:nvPr/>
        </p:nvSpPr>
        <p:spPr>
          <a:xfrm>
            <a:off x="640080" y="1417320"/>
            <a:ext cx="4800600" cy="1463040"/>
          </a:xfrm>
          <a:prstGeom prst="rect">
            <a:avLst/>
          </a:prstGeom>
          <a:noFill/>
        </p:spPr>
        <p:txBody>
          <a:bodyPr wrap="square" anchor="t">
            <a:spAutoFit/>
          </a:bodyPr>
          <a:lstStyle/>
          <a:p>
            <a:pPr>
              <a:spcAft>
                <a:spcPts val="700"/>
              </a:spcAft>
              <a:defRPr sz="3400" b="1">
                <a:solidFill>
                  <a:srgbClr val="1F165C"/>
                </a:solidFill>
                <a:latin typeface="Aptos"/>
              </a:defRPr>
            </a:pPr>
            <a:r>
              <a:t>SALES ANALYTICS</a:t>
            </a:r>
          </a:p>
          <a:p>
            <a:pPr>
              <a:spcAft>
                <a:spcPts val="700"/>
              </a:spcAft>
              <a:defRPr sz="3400" b="1">
                <a:solidFill>
                  <a:srgbClr val="1F165C"/>
                </a:solidFill>
                <a:latin typeface="Aptos"/>
              </a:defRPr>
            </a:pPr>
            <a:r>
              <a:t>DASHBOARD</a:t>
            </a:r>
          </a:p>
        </p:txBody>
      </p:sp>
      <p:sp>
        <p:nvSpPr>
          <p:cNvPr id="6" name="TextBox 5"/>
          <p:cNvSpPr txBox="1"/>
          <p:nvPr/>
        </p:nvSpPr>
        <p:spPr>
          <a:xfrm>
            <a:off x="658368" y="3154680"/>
            <a:ext cx="4480560" cy="685800"/>
          </a:xfrm>
          <a:prstGeom prst="rect">
            <a:avLst/>
          </a:prstGeom>
          <a:noFill/>
        </p:spPr>
        <p:txBody>
          <a:bodyPr wrap="square" anchor="t">
            <a:spAutoFit/>
          </a:bodyPr>
          <a:lstStyle/>
          <a:p>
            <a:pPr>
              <a:spcAft>
                <a:spcPts val="700"/>
              </a:spcAft>
              <a:defRPr sz="1700" b="0">
                <a:solidFill>
                  <a:srgbClr val="5E5982"/>
                </a:solidFill>
                <a:latin typeface="Aptos"/>
              </a:defRPr>
            </a:pPr>
            <a:r>
              <a:t>Understanding retail performance through data visualization</a:t>
            </a:r>
          </a:p>
        </p:txBody>
      </p:sp>
      <p:sp>
        <p:nvSpPr>
          <p:cNvPr id="7" name="Rectangle 6"/>
          <p:cNvSpPr/>
          <p:nvPr/>
        </p:nvSpPr>
        <p:spPr>
          <a:xfrm>
            <a:off x="658368" y="3950208"/>
            <a:ext cx="868680" cy="64008"/>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15968"/>
            <a:ext cx="4572000" cy="1463040"/>
          </a:xfrm>
          <a:prstGeom prst="rect">
            <a:avLst/>
          </a:prstGeom>
          <a:noFill/>
        </p:spPr>
        <p:txBody>
          <a:bodyPr wrap="square" anchor="t">
            <a:spAutoFit/>
          </a:bodyPr>
          <a:lstStyle/>
          <a:p>
            <a:pPr>
              <a:spcAft>
                <a:spcPts val="700"/>
              </a:spcAft>
              <a:defRPr sz="1500" b="1">
                <a:solidFill>
                  <a:srgbClr val="282546"/>
                </a:solidFill>
                <a:latin typeface="Aptos"/>
              </a:defRPr>
            </a:pPr>
            <a:r>
              <a:t>Presented by: Ashi</a:t>
            </a:r>
          </a:p>
          <a:p>
            <a:pPr>
              <a:spcAft>
                <a:spcPts val="700"/>
              </a:spcAft>
              <a:defRPr sz="1500" b="1">
                <a:solidFill>
                  <a:srgbClr val="282546"/>
                </a:solidFill>
                <a:latin typeface="Aptos"/>
              </a:defRPr>
            </a:pPr>
            <a:r>
              <a:t>Class: BBABA22</a:t>
            </a:r>
          </a:p>
          <a:p>
            <a:pPr>
              <a:spcAft>
                <a:spcPts val="700"/>
              </a:spcAft>
              <a:defRPr sz="1500" b="1">
                <a:solidFill>
                  <a:srgbClr val="282546"/>
                </a:solidFill>
                <a:latin typeface="Aptos"/>
              </a:defRPr>
            </a:pPr>
            <a:r>
              <a:t>Roll No.: 1250645037</a:t>
            </a:r>
          </a:p>
          <a:p>
            <a:pPr>
              <a:spcAft>
                <a:spcPts val="700"/>
              </a:spcAft>
              <a:defRPr sz="1500" b="1">
                <a:solidFill>
                  <a:srgbClr val="282546"/>
                </a:solidFill>
                <a:latin typeface="Aptos"/>
              </a:defRPr>
            </a:pPr>
            <a:r>
              <a:t>University: BBDU</a:t>
            </a:r>
          </a:p>
        </p:txBody>
      </p:sp>
      <p:sp>
        <p:nvSpPr>
          <p:cNvPr id="9" name="TextBox 8"/>
          <p:cNvSpPr txBox="1"/>
          <p:nvPr/>
        </p:nvSpPr>
        <p:spPr>
          <a:xfrm>
            <a:off x="658368" y="6355080"/>
            <a:ext cx="4937760" cy="228600"/>
          </a:xfrm>
          <a:prstGeom prst="rect">
            <a:avLst/>
          </a:prstGeom>
          <a:noFill/>
        </p:spPr>
        <p:txBody>
          <a:bodyPr wrap="square" anchor="t">
            <a:spAutoFit/>
          </a:bodyPr>
          <a:lstStyle/>
          <a:p>
            <a:pPr>
              <a:spcAft>
                <a:spcPts val="700"/>
              </a:spcAft>
              <a:defRPr sz="1000" b="0">
                <a:solidFill>
                  <a:srgbClr val="5E5982"/>
                </a:solidFill>
                <a:latin typeface="Aptos"/>
              </a:defRPr>
            </a:pPr>
            <a:r>
              <a:t>Retail Performance • Jan–Dec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FF"/>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anchor="t">
            <a:spAutoFit/>
          </a:bodyPr>
          <a:lstStyle/>
          <a:p>
            <a:pPr>
              <a:spcAft>
                <a:spcPts val="700"/>
              </a:spcAft>
              <a:defRPr sz="2700" b="1">
                <a:solidFill>
                  <a:srgbClr val="1F165C"/>
                </a:solidFill>
                <a:latin typeface="Aptos"/>
              </a:defRPr>
            </a:pPr>
            <a:r>
              <a:t>1. Introduction</a:t>
            </a:r>
          </a:p>
        </p:txBody>
      </p:sp>
      <p:sp>
        <p:nvSpPr>
          <p:cNvPr id="3" name="TextBox 2"/>
          <p:cNvSpPr txBox="1"/>
          <p:nvPr/>
        </p:nvSpPr>
        <p:spPr>
          <a:xfrm>
            <a:off x="530352" y="804672"/>
            <a:ext cx="10972800" cy="320040"/>
          </a:xfrm>
          <a:prstGeom prst="rect">
            <a:avLst/>
          </a:prstGeom>
          <a:noFill/>
        </p:spPr>
        <p:txBody>
          <a:bodyPr wrap="square" anchor="t">
            <a:spAutoFit/>
          </a:bodyPr>
          <a:lstStyle/>
          <a:p>
            <a:pPr>
              <a:spcAft>
                <a:spcPts val="700"/>
              </a:spcAft>
              <a:defRPr sz="1100" b="0">
                <a:solidFill>
                  <a:srgbClr val="5E5982"/>
                </a:solidFill>
                <a:latin typeface="Aptos"/>
              </a:defRPr>
            </a:pPr>
            <a:r>
              <a:t>What this dashboard is designed to do</a:t>
            </a:r>
          </a:p>
        </p:txBody>
      </p:sp>
      <p:sp>
        <p:nvSpPr>
          <p:cNvPr id="4" name="Rectangle 3"/>
          <p:cNvSpPr/>
          <p:nvPr/>
        </p:nvSpPr>
        <p:spPr>
          <a:xfrm>
            <a:off x="530352" y="1143000"/>
            <a:ext cx="731520" cy="50292"/>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384280" y="6473952"/>
            <a:ext cx="320040" cy="182880"/>
          </a:xfrm>
          <a:prstGeom prst="rect">
            <a:avLst/>
          </a:prstGeom>
          <a:noFill/>
        </p:spPr>
        <p:txBody>
          <a:bodyPr wrap="square" anchor="t">
            <a:spAutoFit/>
          </a:bodyPr>
          <a:lstStyle/>
          <a:p>
            <a:pPr algn="r">
              <a:spcAft>
                <a:spcPts val="700"/>
              </a:spcAft>
              <a:defRPr sz="900" b="0">
                <a:solidFill>
                  <a:srgbClr val="5E5982"/>
                </a:solidFill>
                <a:latin typeface="Aptos"/>
              </a:defRPr>
            </a:pPr>
            <a:r>
              <a:t>2</a:t>
            </a:r>
          </a:p>
        </p:txBody>
      </p:sp>
      <p:sp>
        <p:nvSpPr>
          <p:cNvPr id="6" name="Rounded Rectangle 5"/>
          <p:cNvSpPr/>
          <p:nvPr/>
        </p:nvSpPr>
        <p:spPr>
          <a:xfrm>
            <a:off x="594360" y="1508760"/>
            <a:ext cx="5440680" cy="448056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508760"/>
            <a:ext cx="73152" cy="4480560"/>
          </a:xfrm>
          <a:prstGeom prst="rect">
            <a:avLst/>
          </a:prstGeom>
          <a:solidFill>
            <a:srgbClr val="673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655063"/>
            <a:ext cx="5074920" cy="347472"/>
          </a:xfrm>
          <a:prstGeom prst="rect">
            <a:avLst/>
          </a:prstGeom>
          <a:noFill/>
        </p:spPr>
        <p:txBody>
          <a:bodyPr wrap="square" anchor="t">
            <a:spAutoFit/>
          </a:bodyPr>
          <a:lstStyle/>
          <a:p>
            <a:pPr>
              <a:spcAft>
                <a:spcPts val="700"/>
              </a:spcAft>
              <a:defRPr sz="1700" b="1">
                <a:solidFill>
                  <a:srgbClr val="1F165C"/>
                </a:solidFill>
                <a:latin typeface="Aptos"/>
              </a:defRPr>
            </a:pPr>
            <a:r>
              <a:t>Project overview</a:t>
            </a:r>
          </a:p>
        </p:txBody>
      </p:sp>
      <p:sp>
        <p:nvSpPr>
          <p:cNvPr id="9" name="TextBox 8"/>
          <p:cNvSpPr txBox="1"/>
          <p:nvPr/>
        </p:nvSpPr>
        <p:spPr>
          <a:xfrm>
            <a:off x="795528" y="2112264"/>
            <a:ext cx="5056632" cy="3794760"/>
          </a:xfrm>
          <a:prstGeom prst="rect">
            <a:avLst/>
          </a:prstGeom>
          <a:noFill/>
        </p:spPr>
        <p:txBody>
          <a:bodyPr wrap="square" anchor="t">
            <a:spAutoFit/>
          </a:bodyPr>
          <a:lstStyle/>
          <a:p>
            <a:pPr>
              <a:spcAft>
                <a:spcPts val="700"/>
              </a:spcAft>
              <a:defRPr sz="1600" b="0">
                <a:solidFill>
                  <a:srgbClr val="282546"/>
                </a:solidFill>
                <a:latin typeface="Aptos"/>
              </a:defRPr>
            </a:pPr>
            <a:r>
              <a:t>This Power BI dashboard presents a retail sales overview for Zudio across January–December 2025. It brings sales, orders, units, product categories, channels and cities into one visual report.</a:t>
            </a:r>
          </a:p>
        </p:txBody>
      </p:sp>
      <p:sp>
        <p:nvSpPr>
          <p:cNvPr id="10" name="Rounded Rectangle 9"/>
          <p:cNvSpPr/>
          <p:nvPr/>
        </p:nvSpPr>
        <p:spPr>
          <a:xfrm>
            <a:off x="6263640" y="1508760"/>
            <a:ext cx="5303520" cy="448056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508760"/>
            <a:ext cx="73152" cy="4480560"/>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1655063"/>
            <a:ext cx="4937759" cy="347472"/>
          </a:xfrm>
          <a:prstGeom prst="rect">
            <a:avLst/>
          </a:prstGeom>
          <a:noFill/>
        </p:spPr>
        <p:txBody>
          <a:bodyPr wrap="square" anchor="t">
            <a:spAutoFit/>
          </a:bodyPr>
          <a:lstStyle/>
          <a:p>
            <a:pPr>
              <a:spcAft>
                <a:spcPts val="700"/>
              </a:spcAft>
              <a:defRPr sz="1700" b="1">
                <a:solidFill>
                  <a:srgbClr val="1F165C"/>
                </a:solidFill>
                <a:latin typeface="Aptos"/>
              </a:defRPr>
            </a:pPr>
            <a:r>
              <a:t>Purpose</a:t>
            </a:r>
          </a:p>
        </p:txBody>
      </p:sp>
      <p:sp>
        <p:nvSpPr>
          <p:cNvPr id="13" name="TextBox 12"/>
          <p:cNvSpPr txBox="1"/>
          <p:nvPr/>
        </p:nvSpPr>
        <p:spPr>
          <a:xfrm>
            <a:off x="6464807" y="2112264"/>
            <a:ext cx="4919472" cy="3794760"/>
          </a:xfrm>
          <a:prstGeom prst="rect">
            <a:avLst/>
          </a:prstGeom>
          <a:noFill/>
        </p:spPr>
        <p:txBody>
          <a:bodyPr wrap="square" anchor="t">
            <a:spAutoFit/>
          </a:bodyPr>
          <a:lstStyle/>
          <a:p>
            <a:pPr>
              <a:spcAft>
                <a:spcPts val="700"/>
              </a:spcAft>
              <a:defRPr sz="1600" b="0">
                <a:solidFill>
                  <a:srgbClr val="282546"/>
                </a:solidFill>
                <a:latin typeface="Aptos"/>
              </a:defRPr>
            </a:pPr>
            <a:r>
              <a:t>• Track overall sales performance</a:t>
            </a:r>
          </a:p>
          <a:p>
            <a:pPr>
              <a:spcAft>
                <a:spcPts val="700"/>
              </a:spcAft>
              <a:defRPr sz="1600" b="0">
                <a:solidFill>
                  <a:srgbClr val="282546"/>
                </a:solidFill>
                <a:latin typeface="Aptos"/>
              </a:defRPr>
            </a:pPr>
            <a:r>
              <a:t>• Compare categories, cities and sales channels</a:t>
            </a:r>
          </a:p>
          <a:p>
            <a:pPr>
              <a:spcAft>
                <a:spcPts val="700"/>
              </a:spcAft>
              <a:defRPr sz="1600" b="0">
                <a:solidFill>
                  <a:srgbClr val="282546"/>
                </a:solidFill>
                <a:latin typeface="Aptos"/>
              </a:defRPr>
            </a:pPr>
            <a:r>
              <a:t>• Identify strong products and business patterns</a:t>
            </a:r>
          </a:p>
          <a:p>
            <a:pPr>
              <a:spcAft>
                <a:spcPts val="700"/>
              </a:spcAft>
              <a:defRPr sz="1600" b="0">
                <a:solidFill>
                  <a:srgbClr val="282546"/>
                </a:solidFill>
                <a:latin typeface="Aptos"/>
              </a:defRPr>
            </a:pPr>
            <a:r>
              <a:t>• Support quicker, evidence-based decisions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FF"/>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anchor="t">
            <a:spAutoFit/>
          </a:bodyPr>
          <a:lstStyle/>
          <a:p>
            <a:pPr>
              <a:spcAft>
                <a:spcPts val="700"/>
              </a:spcAft>
              <a:defRPr sz="2700" b="1">
                <a:solidFill>
                  <a:srgbClr val="1F165C"/>
                </a:solidFill>
                <a:latin typeface="Aptos"/>
              </a:defRPr>
            </a:pPr>
            <a:r>
              <a:t>2. KPI Cards: At-a-glance performance</a:t>
            </a:r>
          </a:p>
        </p:txBody>
      </p:sp>
      <p:sp>
        <p:nvSpPr>
          <p:cNvPr id="3" name="TextBox 2"/>
          <p:cNvSpPr txBox="1"/>
          <p:nvPr/>
        </p:nvSpPr>
        <p:spPr>
          <a:xfrm>
            <a:off x="530352" y="804672"/>
            <a:ext cx="10972800" cy="320040"/>
          </a:xfrm>
          <a:prstGeom prst="rect">
            <a:avLst/>
          </a:prstGeom>
          <a:noFill/>
        </p:spPr>
        <p:txBody>
          <a:bodyPr wrap="square" anchor="t">
            <a:spAutoFit/>
          </a:bodyPr>
          <a:lstStyle/>
          <a:p>
            <a:pPr>
              <a:spcAft>
                <a:spcPts val="700"/>
              </a:spcAft>
              <a:defRPr sz="1100" b="0">
                <a:solidFill>
                  <a:srgbClr val="5E5982"/>
                </a:solidFill>
                <a:latin typeface="Aptos"/>
              </a:defRPr>
            </a:pPr>
            <a:r>
              <a:t>Why we use cards at the top of the dashboard</a:t>
            </a:r>
          </a:p>
        </p:txBody>
      </p:sp>
      <p:sp>
        <p:nvSpPr>
          <p:cNvPr id="4" name="Rectangle 3"/>
          <p:cNvSpPr/>
          <p:nvPr/>
        </p:nvSpPr>
        <p:spPr>
          <a:xfrm>
            <a:off x="530352" y="1143000"/>
            <a:ext cx="731520" cy="50292"/>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384280" y="6473952"/>
            <a:ext cx="320040" cy="182880"/>
          </a:xfrm>
          <a:prstGeom prst="rect">
            <a:avLst/>
          </a:prstGeom>
          <a:noFill/>
        </p:spPr>
        <p:txBody>
          <a:bodyPr wrap="square" anchor="t">
            <a:spAutoFit/>
          </a:bodyPr>
          <a:lstStyle/>
          <a:p>
            <a:pPr algn="r">
              <a:spcAft>
                <a:spcPts val="700"/>
              </a:spcAft>
              <a:defRPr sz="900" b="0">
                <a:solidFill>
                  <a:srgbClr val="5E5982"/>
                </a:solidFill>
                <a:latin typeface="Aptos"/>
              </a:defRPr>
            </a:pPr>
            <a:r>
              <a:t>3</a:t>
            </a:r>
          </a:p>
        </p:txBody>
      </p:sp>
      <p:sp>
        <p:nvSpPr>
          <p:cNvPr id="6" name="Rounded Rectangle 5"/>
          <p:cNvSpPr/>
          <p:nvPr/>
        </p:nvSpPr>
        <p:spPr>
          <a:xfrm>
            <a:off x="594360" y="1463040"/>
            <a:ext cx="5440680" cy="210312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463040"/>
            <a:ext cx="73152" cy="2103120"/>
          </a:xfrm>
          <a:prstGeom prst="rect">
            <a:avLst/>
          </a:prstGeom>
          <a:solidFill>
            <a:srgbClr val="673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609344"/>
            <a:ext cx="5074920" cy="347472"/>
          </a:xfrm>
          <a:prstGeom prst="rect">
            <a:avLst/>
          </a:prstGeom>
          <a:noFill/>
        </p:spPr>
        <p:txBody>
          <a:bodyPr wrap="square" anchor="t">
            <a:spAutoFit/>
          </a:bodyPr>
          <a:lstStyle/>
          <a:p>
            <a:pPr>
              <a:spcAft>
                <a:spcPts val="700"/>
              </a:spcAft>
              <a:defRPr sz="1700" b="1">
                <a:solidFill>
                  <a:srgbClr val="1F165C"/>
                </a:solidFill>
                <a:latin typeface="Aptos"/>
              </a:defRPr>
            </a:pPr>
            <a:r>
              <a:t>Total Sales — ₹7,47,756</a:t>
            </a:r>
          </a:p>
        </p:txBody>
      </p:sp>
      <p:sp>
        <p:nvSpPr>
          <p:cNvPr id="9" name="TextBox 8"/>
          <p:cNvSpPr txBox="1"/>
          <p:nvPr/>
        </p:nvSpPr>
        <p:spPr>
          <a:xfrm>
            <a:off x="795528" y="2066544"/>
            <a:ext cx="5056632" cy="1417319"/>
          </a:xfrm>
          <a:prstGeom prst="rect">
            <a:avLst/>
          </a:prstGeom>
          <a:noFill/>
        </p:spPr>
        <p:txBody>
          <a:bodyPr wrap="square" anchor="t">
            <a:spAutoFit/>
          </a:bodyPr>
          <a:lstStyle/>
          <a:p>
            <a:pPr>
              <a:spcAft>
                <a:spcPts val="700"/>
              </a:spcAft>
              <a:defRPr sz="1500" b="0">
                <a:solidFill>
                  <a:srgbClr val="282546"/>
                </a:solidFill>
                <a:latin typeface="Aptos"/>
              </a:defRPr>
            </a:pPr>
            <a:r>
              <a:t>Shows the total revenue generated in the selected period. It is the main measure of business performance and gives a quick financial overview.</a:t>
            </a:r>
          </a:p>
        </p:txBody>
      </p:sp>
      <p:sp>
        <p:nvSpPr>
          <p:cNvPr id="10" name="Rounded Rectangle 9"/>
          <p:cNvSpPr/>
          <p:nvPr/>
        </p:nvSpPr>
        <p:spPr>
          <a:xfrm>
            <a:off x="6263640" y="1463040"/>
            <a:ext cx="5303520" cy="210312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463040"/>
            <a:ext cx="73152" cy="2103120"/>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1609344"/>
            <a:ext cx="4937759" cy="347472"/>
          </a:xfrm>
          <a:prstGeom prst="rect">
            <a:avLst/>
          </a:prstGeom>
          <a:noFill/>
        </p:spPr>
        <p:txBody>
          <a:bodyPr wrap="square" anchor="t">
            <a:spAutoFit/>
          </a:bodyPr>
          <a:lstStyle/>
          <a:p>
            <a:pPr>
              <a:spcAft>
                <a:spcPts val="700"/>
              </a:spcAft>
              <a:defRPr sz="1700" b="1">
                <a:solidFill>
                  <a:srgbClr val="1F165C"/>
                </a:solidFill>
                <a:latin typeface="Aptos"/>
              </a:defRPr>
            </a:pPr>
            <a:r>
              <a:t>Orders — 350</a:t>
            </a:r>
          </a:p>
        </p:txBody>
      </p:sp>
      <p:sp>
        <p:nvSpPr>
          <p:cNvPr id="13" name="TextBox 12"/>
          <p:cNvSpPr txBox="1"/>
          <p:nvPr/>
        </p:nvSpPr>
        <p:spPr>
          <a:xfrm>
            <a:off x="6464807" y="2066544"/>
            <a:ext cx="4919472" cy="1417319"/>
          </a:xfrm>
          <a:prstGeom prst="rect">
            <a:avLst/>
          </a:prstGeom>
          <a:noFill/>
        </p:spPr>
        <p:txBody>
          <a:bodyPr wrap="square" anchor="t">
            <a:spAutoFit/>
          </a:bodyPr>
          <a:lstStyle/>
          <a:p>
            <a:pPr>
              <a:spcAft>
                <a:spcPts val="700"/>
              </a:spcAft>
              <a:defRPr sz="1500" b="0">
                <a:solidFill>
                  <a:srgbClr val="282546"/>
                </a:solidFill>
                <a:latin typeface="Aptos"/>
              </a:defRPr>
            </a:pPr>
            <a:r>
              <a:t>Counts the number of orders. This helps understand transaction volume and compare demand across periods or filters.</a:t>
            </a:r>
          </a:p>
        </p:txBody>
      </p:sp>
      <p:sp>
        <p:nvSpPr>
          <p:cNvPr id="14" name="Rounded Rectangle 13"/>
          <p:cNvSpPr/>
          <p:nvPr/>
        </p:nvSpPr>
        <p:spPr>
          <a:xfrm>
            <a:off x="594360" y="3749039"/>
            <a:ext cx="5440680" cy="210312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3749039"/>
            <a:ext cx="73152" cy="2103120"/>
          </a:xfrm>
          <a:prstGeom prst="rect">
            <a:avLst/>
          </a:prstGeom>
          <a:solidFill>
            <a:srgbClr val="673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3895344"/>
            <a:ext cx="5074920" cy="347472"/>
          </a:xfrm>
          <a:prstGeom prst="rect">
            <a:avLst/>
          </a:prstGeom>
          <a:noFill/>
        </p:spPr>
        <p:txBody>
          <a:bodyPr wrap="square" anchor="t">
            <a:spAutoFit/>
          </a:bodyPr>
          <a:lstStyle/>
          <a:p>
            <a:pPr>
              <a:spcAft>
                <a:spcPts val="700"/>
              </a:spcAft>
              <a:defRPr sz="1700" b="1">
                <a:solidFill>
                  <a:srgbClr val="1F165C"/>
                </a:solidFill>
                <a:latin typeface="Aptos"/>
              </a:defRPr>
            </a:pPr>
            <a:r>
              <a:t>Units Sold — 1,643</a:t>
            </a:r>
          </a:p>
        </p:txBody>
      </p:sp>
      <p:sp>
        <p:nvSpPr>
          <p:cNvPr id="17" name="TextBox 16"/>
          <p:cNvSpPr txBox="1"/>
          <p:nvPr/>
        </p:nvSpPr>
        <p:spPr>
          <a:xfrm>
            <a:off x="795528" y="4352544"/>
            <a:ext cx="5056632" cy="1417319"/>
          </a:xfrm>
          <a:prstGeom prst="rect">
            <a:avLst/>
          </a:prstGeom>
          <a:noFill/>
        </p:spPr>
        <p:txBody>
          <a:bodyPr wrap="square" anchor="t">
            <a:spAutoFit/>
          </a:bodyPr>
          <a:lstStyle/>
          <a:p>
            <a:pPr>
              <a:spcAft>
                <a:spcPts val="700"/>
              </a:spcAft>
              <a:defRPr sz="1500" b="0">
                <a:solidFill>
                  <a:srgbClr val="282546"/>
                </a:solidFill>
                <a:latin typeface="Aptos"/>
              </a:defRPr>
            </a:pPr>
            <a:r>
              <a:t>Shows the number of items sold. It helps measure product movement and inventory demand.</a:t>
            </a:r>
          </a:p>
        </p:txBody>
      </p:sp>
      <p:sp>
        <p:nvSpPr>
          <p:cNvPr id="18" name="Rounded Rectangle 17"/>
          <p:cNvSpPr/>
          <p:nvPr/>
        </p:nvSpPr>
        <p:spPr>
          <a:xfrm>
            <a:off x="6263640" y="3749039"/>
            <a:ext cx="5303520" cy="210312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3749039"/>
            <a:ext cx="73152" cy="2103120"/>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7" y="3895344"/>
            <a:ext cx="4937759" cy="347472"/>
          </a:xfrm>
          <a:prstGeom prst="rect">
            <a:avLst/>
          </a:prstGeom>
          <a:noFill/>
        </p:spPr>
        <p:txBody>
          <a:bodyPr wrap="square" anchor="t">
            <a:spAutoFit/>
          </a:bodyPr>
          <a:lstStyle/>
          <a:p>
            <a:pPr>
              <a:spcAft>
                <a:spcPts val="700"/>
              </a:spcAft>
              <a:defRPr sz="1700" b="1">
                <a:solidFill>
                  <a:srgbClr val="1F165C"/>
                </a:solidFill>
                <a:latin typeface="Aptos"/>
              </a:defRPr>
            </a:pPr>
            <a:r>
              <a:t>Average Order Value — ₹2,136</a:t>
            </a:r>
          </a:p>
        </p:txBody>
      </p:sp>
      <p:sp>
        <p:nvSpPr>
          <p:cNvPr id="21" name="TextBox 20"/>
          <p:cNvSpPr txBox="1"/>
          <p:nvPr/>
        </p:nvSpPr>
        <p:spPr>
          <a:xfrm>
            <a:off x="6464807" y="4352544"/>
            <a:ext cx="4919472" cy="1417319"/>
          </a:xfrm>
          <a:prstGeom prst="rect">
            <a:avLst/>
          </a:prstGeom>
          <a:noFill/>
        </p:spPr>
        <p:txBody>
          <a:bodyPr wrap="square" anchor="t">
            <a:spAutoFit/>
          </a:bodyPr>
          <a:lstStyle/>
          <a:p>
            <a:pPr>
              <a:spcAft>
                <a:spcPts val="700"/>
              </a:spcAft>
              <a:defRPr sz="1500" b="0">
                <a:solidFill>
                  <a:srgbClr val="282546"/>
                </a:solidFill>
                <a:latin typeface="Aptos"/>
              </a:defRPr>
            </a:pPr>
            <a:r>
              <a:t>Shows average revenue per order (Total Sales ÷ Orders, approximately). It helps assess how much customers spend per transaction.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FF"/>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anchor="t">
            <a:spAutoFit/>
          </a:bodyPr>
          <a:lstStyle/>
          <a:p>
            <a:pPr>
              <a:spcAft>
                <a:spcPts val="700"/>
              </a:spcAft>
              <a:defRPr sz="2700" b="1">
                <a:solidFill>
                  <a:srgbClr val="1F165C"/>
                </a:solidFill>
                <a:latin typeface="Aptos"/>
              </a:defRPr>
            </a:pPr>
            <a:r>
              <a:t>3. Interactive Filters (Slicers)</a:t>
            </a:r>
          </a:p>
        </p:txBody>
      </p:sp>
      <p:sp>
        <p:nvSpPr>
          <p:cNvPr id="3" name="TextBox 2"/>
          <p:cNvSpPr txBox="1"/>
          <p:nvPr/>
        </p:nvSpPr>
        <p:spPr>
          <a:xfrm>
            <a:off x="530352" y="804672"/>
            <a:ext cx="10972800" cy="320040"/>
          </a:xfrm>
          <a:prstGeom prst="rect">
            <a:avLst/>
          </a:prstGeom>
          <a:noFill/>
        </p:spPr>
        <p:txBody>
          <a:bodyPr wrap="square" anchor="t">
            <a:spAutoFit/>
          </a:bodyPr>
          <a:lstStyle/>
          <a:p>
            <a:pPr>
              <a:spcAft>
                <a:spcPts val="700"/>
              </a:spcAft>
              <a:defRPr sz="1100" b="0">
                <a:solidFill>
                  <a:srgbClr val="5E5982"/>
                </a:solidFill>
                <a:latin typeface="Aptos"/>
              </a:defRPr>
            </a:pPr>
            <a:r>
              <a:t>Why City, Category and Sales Channel are included</a:t>
            </a:r>
          </a:p>
        </p:txBody>
      </p:sp>
      <p:sp>
        <p:nvSpPr>
          <p:cNvPr id="4" name="Rectangle 3"/>
          <p:cNvSpPr/>
          <p:nvPr/>
        </p:nvSpPr>
        <p:spPr>
          <a:xfrm>
            <a:off x="530352" y="1143000"/>
            <a:ext cx="731520" cy="50292"/>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384280" y="6473952"/>
            <a:ext cx="320040" cy="182880"/>
          </a:xfrm>
          <a:prstGeom prst="rect">
            <a:avLst/>
          </a:prstGeom>
          <a:noFill/>
        </p:spPr>
        <p:txBody>
          <a:bodyPr wrap="square" anchor="t">
            <a:spAutoFit/>
          </a:bodyPr>
          <a:lstStyle/>
          <a:p>
            <a:pPr algn="r">
              <a:spcAft>
                <a:spcPts val="700"/>
              </a:spcAft>
              <a:defRPr sz="900" b="0">
                <a:solidFill>
                  <a:srgbClr val="5E5982"/>
                </a:solidFill>
                <a:latin typeface="Aptos"/>
              </a:defRPr>
            </a:pPr>
            <a:r>
              <a:t>4</a:t>
            </a:r>
          </a:p>
        </p:txBody>
      </p:sp>
      <p:sp>
        <p:nvSpPr>
          <p:cNvPr id="6" name="Rounded Rectangle 5"/>
          <p:cNvSpPr/>
          <p:nvPr/>
        </p:nvSpPr>
        <p:spPr>
          <a:xfrm>
            <a:off x="594360" y="1508760"/>
            <a:ext cx="3566160" cy="448056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508760"/>
            <a:ext cx="73152" cy="4480560"/>
          </a:xfrm>
          <a:prstGeom prst="rect">
            <a:avLst/>
          </a:prstGeom>
          <a:solidFill>
            <a:srgbClr val="673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655063"/>
            <a:ext cx="3200400" cy="347472"/>
          </a:xfrm>
          <a:prstGeom prst="rect">
            <a:avLst/>
          </a:prstGeom>
          <a:noFill/>
        </p:spPr>
        <p:txBody>
          <a:bodyPr wrap="square" anchor="t">
            <a:spAutoFit/>
          </a:bodyPr>
          <a:lstStyle/>
          <a:p>
            <a:pPr>
              <a:spcAft>
                <a:spcPts val="700"/>
              </a:spcAft>
              <a:defRPr sz="1700" b="1">
                <a:solidFill>
                  <a:srgbClr val="1F165C"/>
                </a:solidFill>
                <a:latin typeface="Aptos"/>
              </a:defRPr>
            </a:pPr>
            <a:r>
              <a:t>City slicer</a:t>
            </a:r>
          </a:p>
        </p:txBody>
      </p:sp>
      <p:sp>
        <p:nvSpPr>
          <p:cNvPr id="9" name="TextBox 8"/>
          <p:cNvSpPr txBox="1"/>
          <p:nvPr/>
        </p:nvSpPr>
        <p:spPr>
          <a:xfrm>
            <a:off x="795528" y="2112264"/>
            <a:ext cx="3182112" cy="3794760"/>
          </a:xfrm>
          <a:prstGeom prst="rect">
            <a:avLst/>
          </a:prstGeom>
          <a:noFill/>
        </p:spPr>
        <p:txBody>
          <a:bodyPr wrap="square" anchor="t">
            <a:spAutoFit/>
          </a:bodyPr>
          <a:lstStyle/>
          <a:p>
            <a:pPr>
              <a:spcAft>
                <a:spcPts val="700"/>
              </a:spcAft>
              <a:defRPr sz="1600" b="0">
                <a:solidFill>
                  <a:srgbClr val="282546"/>
                </a:solidFill>
                <a:latin typeface="Aptos"/>
              </a:defRPr>
            </a:pPr>
            <a:r>
              <a:t>Filters the report to one or more cities. Use it to compare local performance and explore where sales are strongest.</a:t>
            </a:r>
          </a:p>
        </p:txBody>
      </p:sp>
      <p:sp>
        <p:nvSpPr>
          <p:cNvPr id="10" name="Rounded Rectangle 9"/>
          <p:cNvSpPr/>
          <p:nvPr/>
        </p:nvSpPr>
        <p:spPr>
          <a:xfrm>
            <a:off x="4315968" y="1508760"/>
            <a:ext cx="3566160" cy="448056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15968" y="1508760"/>
            <a:ext cx="73152" cy="4480560"/>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7136" y="1655063"/>
            <a:ext cx="3200400" cy="347472"/>
          </a:xfrm>
          <a:prstGeom prst="rect">
            <a:avLst/>
          </a:prstGeom>
          <a:noFill/>
        </p:spPr>
        <p:txBody>
          <a:bodyPr wrap="square" anchor="t">
            <a:spAutoFit/>
          </a:bodyPr>
          <a:lstStyle/>
          <a:p>
            <a:pPr>
              <a:spcAft>
                <a:spcPts val="700"/>
              </a:spcAft>
              <a:defRPr sz="1700" b="1">
                <a:solidFill>
                  <a:srgbClr val="1F165C"/>
                </a:solidFill>
                <a:latin typeface="Aptos"/>
              </a:defRPr>
            </a:pPr>
            <a:r>
              <a:t>Category slicer</a:t>
            </a:r>
          </a:p>
        </p:txBody>
      </p:sp>
      <p:sp>
        <p:nvSpPr>
          <p:cNvPr id="13" name="TextBox 12"/>
          <p:cNvSpPr txBox="1"/>
          <p:nvPr/>
        </p:nvSpPr>
        <p:spPr>
          <a:xfrm>
            <a:off x="4517136" y="2112264"/>
            <a:ext cx="3182112" cy="3794760"/>
          </a:xfrm>
          <a:prstGeom prst="rect">
            <a:avLst/>
          </a:prstGeom>
          <a:noFill/>
        </p:spPr>
        <p:txBody>
          <a:bodyPr wrap="square" anchor="t">
            <a:spAutoFit/>
          </a:bodyPr>
          <a:lstStyle/>
          <a:p>
            <a:pPr>
              <a:spcAft>
                <a:spcPts val="700"/>
              </a:spcAft>
              <a:defRPr sz="1600" b="0">
                <a:solidFill>
                  <a:srgbClr val="282546"/>
                </a:solidFill>
                <a:latin typeface="Aptos"/>
              </a:defRPr>
            </a:pPr>
            <a:r>
              <a:t>Focuses on a product category such as Bottomwear, Dresses or Footwear, helping users examine category-specific performance.</a:t>
            </a:r>
          </a:p>
        </p:txBody>
      </p:sp>
      <p:sp>
        <p:nvSpPr>
          <p:cNvPr id="14" name="Rounded Rectangle 13"/>
          <p:cNvSpPr/>
          <p:nvPr/>
        </p:nvSpPr>
        <p:spPr>
          <a:xfrm>
            <a:off x="8037575" y="1508760"/>
            <a:ext cx="3566160" cy="448056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5" y="1508760"/>
            <a:ext cx="73152" cy="4480560"/>
          </a:xfrm>
          <a:prstGeom prst="rect">
            <a:avLst/>
          </a:prstGeom>
          <a:solidFill>
            <a:srgbClr val="673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1655063"/>
            <a:ext cx="3200400" cy="347472"/>
          </a:xfrm>
          <a:prstGeom prst="rect">
            <a:avLst/>
          </a:prstGeom>
          <a:noFill/>
        </p:spPr>
        <p:txBody>
          <a:bodyPr wrap="square" anchor="t">
            <a:spAutoFit/>
          </a:bodyPr>
          <a:lstStyle/>
          <a:p>
            <a:pPr>
              <a:spcAft>
                <a:spcPts val="700"/>
              </a:spcAft>
              <a:defRPr sz="1700" b="1">
                <a:solidFill>
                  <a:srgbClr val="1F165C"/>
                </a:solidFill>
                <a:latin typeface="Aptos"/>
              </a:defRPr>
            </a:pPr>
            <a:r>
              <a:t>Sales Channel slicer</a:t>
            </a:r>
          </a:p>
        </p:txBody>
      </p:sp>
      <p:sp>
        <p:nvSpPr>
          <p:cNvPr id="17" name="TextBox 16"/>
          <p:cNvSpPr txBox="1"/>
          <p:nvPr/>
        </p:nvSpPr>
        <p:spPr>
          <a:xfrm>
            <a:off x="8238744" y="2112264"/>
            <a:ext cx="3182112" cy="3794760"/>
          </a:xfrm>
          <a:prstGeom prst="rect">
            <a:avLst/>
          </a:prstGeom>
          <a:noFill/>
        </p:spPr>
        <p:txBody>
          <a:bodyPr wrap="square" anchor="t">
            <a:spAutoFit/>
          </a:bodyPr>
          <a:lstStyle/>
          <a:p>
            <a:pPr>
              <a:spcAft>
                <a:spcPts val="700"/>
              </a:spcAft>
              <a:defRPr sz="1600" b="0">
                <a:solidFill>
                  <a:srgbClr val="282546"/>
                </a:solidFill>
                <a:latin typeface="Aptos"/>
              </a:defRPr>
            </a:pPr>
            <a:r>
              <a:t>Filters results by In-Store or Online sales, making it easier to compare channel contribution and customer purchasing patterns.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FF"/>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anchor="t">
            <a:spAutoFit/>
          </a:bodyPr>
          <a:lstStyle/>
          <a:p>
            <a:pPr>
              <a:spcAft>
                <a:spcPts val="700"/>
              </a:spcAft>
              <a:defRPr sz="2700" b="1">
                <a:solidFill>
                  <a:srgbClr val="1F165C"/>
                </a:solidFill>
                <a:latin typeface="Aptos"/>
              </a:defRPr>
            </a:pPr>
            <a:r>
              <a:t>4. Monthly Sales Performance</a:t>
            </a:r>
          </a:p>
        </p:txBody>
      </p:sp>
      <p:sp>
        <p:nvSpPr>
          <p:cNvPr id="3" name="TextBox 2"/>
          <p:cNvSpPr txBox="1"/>
          <p:nvPr/>
        </p:nvSpPr>
        <p:spPr>
          <a:xfrm>
            <a:off x="530352" y="804672"/>
            <a:ext cx="10972800" cy="320040"/>
          </a:xfrm>
          <a:prstGeom prst="rect">
            <a:avLst/>
          </a:prstGeom>
          <a:noFill/>
        </p:spPr>
        <p:txBody>
          <a:bodyPr wrap="square" anchor="t">
            <a:spAutoFit/>
          </a:bodyPr>
          <a:lstStyle/>
          <a:p>
            <a:pPr>
              <a:spcAft>
                <a:spcPts val="700"/>
              </a:spcAft>
              <a:defRPr sz="1100" b="0">
                <a:solidFill>
                  <a:srgbClr val="5E5982"/>
                </a:solidFill>
                <a:latin typeface="Aptos"/>
              </a:defRPr>
            </a:pPr>
            <a:r>
              <a:t>Visual used: Combo chart (columns + line)</a:t>
            </a:r>
          </a:p>
        </p:txBody>
      </p:sp>
      <p:sp>
        <p:nvSpPr>
          <p:cNvPr id="4" name="Rectangle 3"/>
          <p:cNvSpPr/>
          <p:nvPr/>
        </p:nvSpPr>
        <p:spPr>
          <a:xfrm>
            <a:off x="530352" y="1143000"/>
            <a:ext cx="731520" cy="50292"/>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384280" y="6473952"/>
            <a:ext cx="320040" cy="182880"/>
          </a:xfrm>
          <a:prstGeom prst="rect">
            <a:avLst/>
          </a:prstGeom>
          <a:noFill/>
        </p:spPr>
        <p:txBody>
          <a:bodyPr wrap="square" anchor="t">
            <a:spAutoFit/>
          </a:bodyPr>
          <a:lstStyle/>
          <a:p>
            <a:pPr algn="r">
              <a:spcAft>
                <a:spcPts val="700"/>
              </a:spcAft>
              <a:defRPr sz="900" b="0">
                <a:solidFill>
                  <a:srgbClr val="5E5982"/>
                </a:solidFill>
                <a:latin typeface="Aptos"/>
              </a:defRPr>
            </a:pPr>
            <a:r>
              <a:t>5</a:t>
            </a:r>
          </a:p>
        </p:txBody>
      </p:sp>
      <p:sp>
        <p:nvSpPr>
          <p:cNvPr id="6" name="Rounded Rectangle 5"/>
          <p:cNvSpPr/>
          <p:nvPr/>
        </p:nvSpPr>
        <p:spPr>
          <a:xfrm>
            <a:off x="594360" y="1508760"/>
            <a:ext cx="5440680" cy="448056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508760"/>
            <a:ext cx="73152" cy="4480560"/>
          </a:xfrm>
          <a:prstGeom prst="rect">
            <a:avLst/>
          </a:prstGeom>
          <a:solidFill>
            <a:srgbClr val="673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655063"/>
            <a:ext cx="5074920" cy="347472"/>
          </a:xfrm>
          <a:prstGeom prst="rect">
            <a:avLst/>
          </a:prstGeom>
          <a:noFill/>
        </p:spPr>
        <p:txBody>
          <a:bodyPr wrap="square" anchor="t">
            <a:spAutoFit/>
          </a:bodyPr>
          <a:lstStyle/>
          <a:p>
            <a:pPr>
              <a:spcAft>
                <a:spcPts val="700"/>
              </a:spcAft>
              <a:defRPr sz="1700" b="1">
                <a:solidFill>
                  <a:srgbClr val="1F165C"/>
                </a:solidFill>
                <a:latin typeface="Aptos"/>
              </a:defRPr>
            </a:pPr>
            <a:r>
              <a:t>Why this chart?</a:t>
            </a:r>
          </a:p>
        </p:txBody>
      </p:sp>
      <p:sp>
        <p:nvSpPr>
          <p:cNvPr id="9" name="TextBox 8"/>
          <p:cNvSpPr txBox="1"/>
          <p:nvPr/>
        </p:nvSpPr>
        <p:spPr>
          <a:xfrm>
            <a:off x="795528" y="2112264"/>
            <a:ext cx="5056632" cy="3794760"/>
          </a:xfrm>
          <a:prstGeom prst="rect">
            <a:avLst/>
          </a:prstGeom>
          <a:noFill/>
        </p:spPr>
        <p:txBody>
          <a:bodyPr wrap="square" anchor="t">
            <a:spAutoFit/>
          </a:bodyPr>
          <a:lstStyle/>
          <a:p>
            <a:pPr>
              <a:spcAft>
                <a:spcPts val="700"/>
              </a:spcAft>
              <a:defRPr sz="1600" b="0">
                <a:solidFill>
                  <a:srgbClr val="282546"/>
                </a:solidFill>
                <a:latin typeface="Aptos"/>
              </a:defRPr>
            </a:pPr>
            <a:r>
              <a:t>Columns show monthly sales revenue, while the line shows units sold. A combo chart lets us compare two related measures over the same timeline without losing the trend in either measure.</a:t>
            </a:r>
          </a:p>
        </p:txBody>
      </p:sp>
      <p:sp>
        <p:nvSpPr>
          <p:cNvPr id="10" name="Rounded Rectangle 9"/>
          <p:cNvSpPr/>
          <p:nvPr/>
        </p:nvSpPr>
        <p:spPr>
          <a:xfrm>
            <a:off x="6263640" y="1508760"/>
            <a:ext cx="5303520" cy="448056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508760"/>
            <a:ext cx="73152" cy="4480560"/>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1655063"/>
            <a:ext cx="4937759" cy="347472"/>
          </a:xfrm>
          <a:prstGeom prst="rect">
            <a:avLst/>
          </a:prstGeom>
          <a:noFill/>
        </p:spPr>
        <p:txBody>
          <a:bodyPr wrap="square" anchor="t">
            <a:spAutoFit/>
          </a:bodyPr>
          <a:lstStyle/>
          <a:p>
            <a:pPr>
              <a:spcAft>
                <a:spcPts val="700"/>
              </a:spcAft>
              <a:defRPr sz="1700" b="1">
                <a:solidFill>
                  <a:srgbClr val="1F165C"/>
                </a:solidFill>
                <a:latin typeface="Aptos"/>
              </a:defRPr>
            </a:pPr>
            <a:r>
              <a:t>What it shows</a:t>
            </a:r>
          </a:p>
        </p:txBody>
      </p:sp>
      <p:sp>
        <p:nvSpPr>
          <p:cNvPr id="13" name="TextBox 12"/>
          <p:cNvSpPr txBox="1"/>
          <p:nvPr/>
        </p:nvSpPr>
        <p:spPr>
          <a:xfrm>
            <a:off x="6464807" y="2112264"/>
            <a:ext cx="4919472" cy="3794760"/>
          </a:xfrm>
          <a:prstGeom prst="rect">
            <a:avLst/>
          </a:prstGeom>
          <a:noFill/>
        </p:spPr>
        <p:txBody>
          <a:bodyPr wrap="square" anchor="t">
            <a:spAutoFit/>
          </a:bodyPr>
          <a:lstStyle/>
          <a:p>
            <a:pPr>
              <a:spcAft>
                <a:spcPts val="700"/>
              </a:spcAft>
              <a:defRPr sz="1600" b="0">
                <a:solidFill>
                  <a:srgbClr val="282546"/>
                </a:solidFill>
                <a:latin typeface="Aptos"/>
              </a:defRPr>
            </a:pPr>
            <a:r>
              <a:t>• Sales generally rise toward the end of the year.</a:t>
            </a:r>
          </a:p>
          <a:p>
            <a:pPr>
              <a:spcAft>
                <a:spcPts val="700"/>
              </a:spcAft>
              <a:defRPr sz="1600" b="0">
                <a:solidFill>
                  <a:srgbClr val="282546"/>
                </a:solidFill>
                <a:latin typeface="Aptos"/>
              </a:defRPr>
            </a:pPr>
            <a:r>
              <a:t>• December appears to be the strongest month in the displayed trend.</a:t>
            </a:r>
          </a:p>
          <a:p>
            <a:pPr>
              <a:spcAft>
                <a:spcPts val="700"/>
              </a:spcAft>
              <a:defRPr sz="1600" b="0">
                <a:solidFill>
                  <a:srgbClr val="282546"/>
                </a:solidFill>
                <a:latin typeface="Aptos"/>
              </a:defRPr>
            </a:pPr>
            <a:r>
              <a:t>• Units sold also increase overall, suggesting higher product movement.</a:t>
            </a:r>
          </a:p>
          <a:p>
            <a:pPr>
              <a:spcAft>
                <a:spcPts val="700"/>
              </a:spcAft>
              <a:defRPr sz="1600" b="0">
                <a:solidFill>
                  <a:srgbClr val="282546"/>
                </a:solidFill>
                <a:latin typeface="Aptos"/>
              </a:defRPr>
            </a:pPr>
            <a:r>
              <a:t>• Monthly patterns can help with stock planning and promotions.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FF"/>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anchor="t">
            <a:spAutoFit/>
          </a:bodyPr>
          <a:lstStyle/>
          <a:p>
            <a:pPr>
              <a:spcAft>
                <a:spcPts val="700"/>
              </a:spcAft>
              <a:defRPr sz="2700" b="1">
                <a:solidFill>
                  <a:srgbClr val="1F165C"/>
                </a:solidFill>
                <a:latin typeface="Aptos"/>
              </a:defRPr>
            </a:pPr>
            <a:r>
              <a:t>5. Revenue by Category</a:t>
            </a:r>
          </a:p>
        </p:txBody>
      </p:sp>
      <p:sp>
        <p:nvSpPr>
          <p:cNvPr id="3" name="TextBox 2"/>
          <p:cNvSpPr txBox="1"/>
          <p:nvPr/>
        </p:nvSpPr>
        <p:spPr>
          <a:xfrm>
            <a:off x="530352" y="804672"/>
            <a:ext cx="10972800" cy="320040"/>
          </a:xfrm>
          <a:prstGeom prst="rect">
            <a:avLst/>
          </a:prstGeom>
          <a:noFill/>
        </p:spPr>
        <p:txBody>
          <a:bodyPr wrap="square" anchor="t">
            <a:spAutoFit/>
          </a:bodyPr>
          <a:lstStyle/>
          <a:p>
            <a:pPr>
              <a:spcAft>
                <a:spcPts val="700"/>
              </a:spcAft>
              <a:defRPr sz="1100" b="0">
                <a:solidFill>
                  <a:srgbClr val="5E5982"/>
                </a:solidFill>
                <a:latin typeface="Aptos"/>
              </a:defRPr>
            </a:pPr>
            <a:r>
              <a:t>Visual used: Horizontal bar chart</a:t>
            </a:r>
          </a:p>
        </p:txBody>
      </p:sp>
      <p:sp>
        <p:nvSpPr>
          <p:cNvPr id="4" name="Rectangle 3"/>
          <p:cNvSpPr/>
          <p:nvPr/>
        </p:nvSpPr>
        <p:spPr>
          <a:xfrm>
            <a:off x="530352" y="1143000"/>
            <a:ext cx="731520" cy="50292"/>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384280" y="6473952"/>
            <a:ext cx="320040" cy="182880"/>
          </a:xfrm>
          <a:prstGeom prst="rect">
            <a:avLst/>
          </a:prstGeom>
          <a:noFill/>
        </p:spPr>
        <p:txBody>
          <a:bodyPr wrap="square" anchor="t">
            <a:spAutoFit/>
          </a:bodyPr>
          <a:lstStyle/>
          <a:p>
            <a:pPr algn="r">
              <a:spcAft>
                <a:spcPts val="700"/>
              </a:spcAft>
              <a:defRPr sz="900" b="0">
                <a:solidFill>
                  <a:srgbClr val="5E5982"/>
                </a:solidFill>
                <a:latin typeface="Aptos"/>
              </a:defRPr>
            </a:pPr>
            <a:r>
              <a:t>6</a:t>
            </a:r>
          </a:p>
        </p:txBody>
      </p:sp>
      <p:sp>
        <p:nvSpPr>
          <p:cNvPr id="6" name="Rounded Rectangle 5"/>
          <p:cNvSpPr/>
          <p:nvPr/>
        </p:nvSpPr>
        <p:spPr>
          <a:xfrm>
            <a:off x="594360" y="1508760"/>
            <a:ext cx="5440680" cy="448056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508760"/>
            <a:ext cx="73152" cy="4480560"/>
          </a:xfrm>
          <a:prstGeom prst="rect">
            <a:avLst/>
          </a:prstGeom>
          <a:solidFill>
            <a:srgbClr val="673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655063"/>
            <a:ext cx="5074920" cy="347472"/>
          </a:xfrm>
          <a:prstGeom prst="rect">
            <a:avLst/>
          </a:prstGeom>
          <a:noFill/>
        </p:spPr>
        <p:txBody>
          <a:bodyPr wrap="square" anchor="t">
            <a:spAutoFit/>
          </a:bodyPr>
          <a:lstStyle/>
          <a:p>
            <a:pPr>
              <a:spcAft>
                <a:spcPts val="700"/>
              </a:spcAft>
              <a:defRPr sz="1700" b="1">
                <a:solidFill>
                  <a:srgbClr val="1F165C"/>
                </a:solidFill>
                <a:latin typeface="Aptos"/>
              </a:defRPr>
            </a:pPr>
            <a:r>
              <a:t>Why horizontal bars?</a:t>
            </a:r>
          </a:p>
        </p:txBody>
      </p:sp>
      <p:sp>
        <p:nvSpPr>
          <p:cNvPr id="9" name="TextBox 8"/>
          <p:cNvSpPr txBox="1"/>
          <p:nvPr/>
        </p:nvSpPr>
        <p:spPr>
          <a:xfrm>
            <a:off x="795528" y="2112264"/>
            <a:ext cx="5056632" cy="3794760"/>
          </a:xfrm>
          <a:prstGeom prst="rect">
            <a:avLst/>
          </a:prstGeom>
          <a:noFill/>
        </p:spPr>
        <p:txBody>
          <a:bodyPr wrap="square" anchor="t">
            <a:spAutoFit/>
          </a:bodyPr>
          <a:lstStyle/>
          <a:p>
            <a:pPr>
              <a:spcAft>
                <a:spcPts val="700"/>
              </a:spcAft>
              <a:defRPr sz="1600" b="0">
                <a:solidFill>
                  <a:srgbClr val="282546"/>
                </a:solidFill>
                <a:latin typeface="Aptos"/>
              </a:defRPr>
            </a:pPr>
            <a:r>
              <a:t>Categories have long names, so horizontal bars keep labels readable. The bars make it easy to compare revenue and rank categories from highest to lowest.</a:t>
            </a:r>
          </a:p>
        </p:txBody>
      </p:sp>
      <p:sp>
        <p:nvSpPr>
          <p:cNvPr id="10" name="Rounded Rectangle 9"/>
          <p:cNvSpPr/>
          <p:nvPr/>
        </p:nvSpPr>
        <p:spPr>
          <a:xfrm>
            <a:off x="6263640" y="1508760"/>
            <a:ext cx="5303520" cy="448056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508760"/>
            <a:ext cx="73152" cy="4480560"/>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1655063"/>
            <a:ext cx="4937759" cy="347472"/>
          </a:xfrm>
          <a:prstGeom prst="rect">
            <a:avLst/>
          </a:prstGeom>
          <a:noFill/>
        </p:spPr>
        <p:txBody>
          <a:bodyPr wrap="square" anchor="t">
            <a:spAutoFit/>
          </a:bodyPr>
          <a:lstStyle/>
          <a:p>
            <a:pPr>
              <a:spcAft>
                <a:spcPts val="700"/>
              </a:spcAft>
              <a:defRPr sz="1700" b="1">
                <a:solidFill>
                  <a:srgbClr val="1F165C"/>
                </a:solidFill>
                <a:latin typeface="Aptos"/>
              </a:defRPr>
            </a:pPr>
            <a:r>
              <a:t>What it shows</a:t>
            </a:r>
          </a:p>
        </p:txBody>
      </p:sp>
      <p:sp>
        <p:nvSpPr>
          <p:cNvPr id="13" name="TextBox 12"/>
          <p:cNvSpPr txBox="1"/>
          <p:nvPr/>
        </p:nvSpPr>
        <p:spPr>
          <a:xfrm>
            <a:off x="6464807" y="2112264"/>
            <a:ext cx="4919472" cy="3794760"/>
          </a:xfrm>
          <a:prstGeom prst="rect">
            <a:avLst/>
          </a:prstGeom>
          <a:noFill/>
        </p:spPr>
        <p:txBody>
          <a:bodyPr wrap="square" anchor="t">
            <a:spAutoFit/>
          </a:bodyPr>
          <a:lstStyle/>
          <a:p>
            <a:pPr>
              <a:spcAft>
                <a:spcPts val="700"/>
              </a:spcAft>
              <a:defRPr sz="1600" b="0">
                <a:solidFill>
                  <a:srgbClr val="282546"/>
                </a:solidFill>
                <a:latin typeface="Aptos"/>
              </a:defRPr>
            </a:pPr>
            <a:r>
              <a:t>Bottomwear is the top category at about ₹2,29,254. Dresses and Kidswear follow in the displayed report. Lower-revenue categories may need a closer look at demand, pricing, assortment or promotion.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4FF"/>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anchor="t">
            <a:spAutoFit/>
          </a:bodyPr>
          <a:lstStyle/>
          <a:p>
            <a:pPr>
              <a:spcAft>
                <a:spcPts val="700"/>
              </a:spcAft>
              <a:defRPr sz="2700" b="1">
                <a:solidFill>
                  <a:srgbClr val="1F165C"/>
                </a:solidFill>
                <a:latin typeface="Aptos"/>
              </a:defRPr>
            </a:pPr>
            <a:r>
              <a:t>6. Sales Channel Split &amp; City-wise Revenue</a:t>
            </a:r>
          </a:p>
        </p:txBody>
      </p:sp>
      <p:sp>
        <p:nvSpPr>
          <p:cNvPr id="3" name="TextBox 2"/>
          <p:cNvSpPr txBox="1"/>
          <p:nvPr/>
        </p:nvSpPr>
        <p:spPr>
          <a:xfrm>
            <a:off x="530352" y="804672"/>
            <a:ext cx="10972800" cy="320040"/>
          </a:xfrm>
          <a:prstGeom prst="rect">
            <a:avLst/>
          </a:prstGeom>
          <a:noFill/>
        </p:spPr>
        <p:txBody>
          <a:bodyPr wrap="square" anchor="t">
            <a:spAutoFit/>
          </a:bodyPr>
          <a:lstStyle/>
          <a:p>
            <a:pPr>
              <a:spcAft>
                <a:spcPts val="700"/>
              </a:spcAft>
              <a:defRPr sz="1100" b="0">
                <a:solidFill>
                  <a:srgbClr val="5E5982"/>
                </a:solidFill>
                <a:latin typeface="Aptos"/>
              </a:defRPr>
            </a:pPr>
            <a:r>
              <a:t>Two visuals answer two different business questions</a:t>
            </a:r>
          </a:p>
        </p:txBody>
      </p:sp>
      <p:sp>
        <p:nvSpPr>
          <p:cNvPr id="4" name="Rectangle 3"/>
          <p:cNvSpPr/>
          <p:nvPr/>
        </p:nvSpPr>
        <p:spPr>
          <a:xfrm>
            <a:off x="530352" y="1143000"/>
            <a:ext cx="731520" cy="50292"/>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384280" y="6473952"/>
            <a:ext cx="320040" cy="182880"/>
          </a:xfrm>
          <a:prstGeom prst="rect">
            <a:avLst/>
          </a:prstGeom>
          <a:noFill/>
        </p:spPr>
        <p:txBody>
          <a:bodyPr wrap="square" anchor="t">
            <a:spAutoFit/>
          </a:bodyPr>
          <a:lstStyle/>
          <a:p>
            <a:pPr algn="r">
              <a:spcAft>
                <a:spcPts val="700"/>
              </a:spcAft>
              <a:defRPr sz="900" b="0">
                <a:solidFill>
                  <a:srgbClr val="5E5982"/>
                </a:solidFill>
                <a:latin typeface="Aptos"/>
              </a:defRPr>
            </a:pPr>
            <a:r>
              <a:t>7</a:t>
            </a:r>
          </a:p>
        </p:txBody>
      </p:sp>
      <p:sp>
        <p:nvSpPr>
          <p:cNvPr id="6" name="Rounded Rectangle 5"/>
          <p:cNvSpPr/>
          <p:nvPr/>
        </p:nvSpPr>
        <p:spPr>
          <a:xfrm>
            <a:off x="594360" y="1508760"/>
            <a:ext cx="5440680" cy="448056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508760"/>
            <a:ext cx="73152" cy="4480560"/>
          </a:xfrm>
          <a:prstGeom prst="rect">
            <a:avLst/>
          </a:prstGeom>
          <a:solidFill>
            <a:srgbClr val="673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655063"/>
            <a:ext cx="5074920" cy="347472"/>
          </a:xfrm>
          <a:prstGeom prst="rect">
            <a:avLst/>
          </a:prstGeom>
          <a:noFill/>
        </p:spPr>
        <p:txBody>
          <a:bodyPr wrap="square" anchor="t">
            <a:spAutoFit/>
          </a:bodyPr>
          <a:lstStyle/>
          <a:p>
            <a:pPr>
              <a:spcAft>
                <a:spcPts val="700"/>
              </a:spcAft>
              <a:defRPr sz="1700" b="1">
                <a:solidFill>
                  <a:srgbClr val="1F165C"/>
                </a:solidFill>
                <a:latin typeface="Aptos"/>
              </a:defRPr>
            </a:pPr>
            <a:r>
              <a:t>Donut chart — channel share</a:t>
            </a:r>
          </a:p>
        </p:txBody>
      </p:sp>
      <p:sp>
        <p:nvSpPr>
          <p:cNvPr id="9" name="TextBox 8"/>
          <p:cNvSpPr txBox="1"/>
          <p:nvPr/>
        </p:nvSpPr>
        <p:spPr>
          <a:xfrm>
            <a:off x="795528" y="2112264"/>
            <a:ext cx="5056632" cy="3794760"/>
          </a:xfrm>
          <a:prstGeom prst="rect">
            <a:avLst/>
          </a:prstGeom>
          <a:noFill/>
        </p:spPr>
        <p:txBody>
          <a:bodyPr wrap="square" anchor="t">
            <a:spAutoFit/>
          </a:bodyPr>
          <a:lstStyle/>
          <a:p>
            <a:pPr>
              <a:spcAft>
                <a:spcPts val="700"/>
              </a:spcAft>
              <a:defRPr sz="1500" b="0">
                <a:solidFill>
                  <a:srgbClr val="282546"/>
                </a:solidFill>
                <a:latin typeface="Aptos"/>
              </a:defRPr>
            </a:pPr>
            <a:r>
              <a:t>Why: a donut chart highlights each channel's proportion of total sales.</a:t>
            </a:r>
          </a:p>
          <a:p>
            <a:pPr>
              <a:spcAft>
                <a:spcPts val="700"/>
              </a:spcAft>
              <a:defRPr sz="1500" b="0">
                <a:solidFill>
                  <a:srgbClr val="282546"/>
                </a:solidFill>
                <a:latin typeface="Aptos"/>
              </a:defRPr>
            </a:pPr>
          </a:p>
          <a:p>
            <a:pPr>
              <a:spcAft>
                <a:spcPts val="700"/>
              </a:spcAft>
              <a:defRPr sz="1500" b="0">
                <a:solidFill>
                  <a:srgbClr val="282546"/>
                </a:solidFill>
                <a:latin typeface="Aptos"/>
              </a:defRPr>
            </a:pPr>
            <a:r>
              <a:t>What it shows: In-Store contributes ₹5,87,654 (78.6%), while Online contributes ₹1,60,102 (21.4%). In-store is the larger revenue channel in this dataset.</a:t>
            </a:r>
          </a:p>
        </p:txBody>
      </p:sp>
      <p:sp>
        <p:nvSpPr>
          <p:cNvPr id="10" name="Rounded Rectangle 9"/>
          <p:cNvSpPr/>
          <p:nvPr/>
        </p:nvSpPr>
        <p:spPr>
          <a:xfrm>
            <a:off x="6263640" y="1508760"/>
            <a:ext cx="5303520" cy="448056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508760"/>
            <a:ext cx="73152" cy="4480560"/>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1655063"/>
            <a:ext cx="4937759" cy="347472"/>
          </a:xfrm>
          <a:prstGeom prst="rect">
            <a:avLst/>
          </a:prstGeom>
          <a:noFill/>
        </p:spPr>
        <p:txBody>
          <a:bodyPr wrap="square" anchor="t">
            <a:spAutoFit/>
          </a:bodyPr>
          <a:lstStyle/>
          <a:p>
            <a:pPr>
              <a:spcAft>
                <a:spcPts val="700"/>
              </a:spcAft>
              <a:defRPr sz="1700" b="1">
                <a:solidFill>
                  <a:srgbClr val="1F165C"/>
                </a:solidFill>
                <a:latin typeface="Aptos"/>
              </a:defRPr>
            </a:pPr>
            <a:r>
              <a:t>Column chart — city revenue</a:t>
            </a:r>
          </a:p>
        </p:txBody>
      </p:sp>
      <p:sp>
        <p:nvSpPr>
          <p:cNvPr id="13" name="TextBox 12"/>
          <p:cNvSpPr txBox="1"/>
          <p:nvPr/>
        </p:nvSpPr>
        <p:spPr>
          <a:xfrm>
            <a:off x="6464807" y="2112264"/>
            <a:ext cx="4919472" cy="3794760"/>
          </a:xfrm>
          <a:prstGeom prst="rect">
            <a:avLst/>
          </a:prstGeom>
          <a:noFill/>
        </p:spPr>
        <p:txBody>
          <a:bodyPr wrap="square" anchor="t">
            <a:spAutoFit/>
          </a:bodyPr>
          <a:lstStyle/>
          <a:p>
            <a:pPr>
              <a:spcAft>
                <a:spcPts val="700"/>
              </a:spcAft>
              <a:defRPr sz="1500" b="0">
                <a:solidFill>
                  <a:srgbClr val="282546"/>
                </a:solidFill>
                <a:latin typeface="Aptos"/>
              </a:defRPr>
            </a:pPr>
            <a:r>
              <a:t>Why: vertical bars compare revenue across cities quickly.</a:t>
            </a:r>
          </a:p>
          <a:p>
            <a:pPr>
              <a:spcAft>
                <a:spcPts val="700"/>
              </a:spcAft>
              <a:defRPr sz="1500" b="0">
                <a:solidFill>
                  <a:srgbClr val="282546"/>
                </a:solidFill>
                <a:latin typeface="Aptos"/>
              </a:defRPr>
            </a:pPr>
          </a:p>
          <a:p>
            <a:pPr>
              <a:spcAft>
                <a:spcPts val="700"/>
              </a:spcAft>
              <a:defRPr sz="1500" b="0">
                <a:solidFill>
                  <a:srgbClr val="282546"/>
                </a:solidFill>
                <a:latin typeface="Aptos"/>
              </a:defRPr>
            </a:pPr>
            <a:r>
              <a:t>What it shows: Kanpur is highest among the displayed cities at ₹99,304, followed by Jaipur at ₹94,119 and Kolkata at ₹84,913. This helps compare regional performance.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FF"/>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anchor="t">
            <a:spAutoFit/>
          </a:bodyPr>
          <a:lstStyle/>
          <a:p>
            <a:pPr>
              <a:spcAft>
                <a:spcPts val="700"/>
              </a:spcAft>
              <a:defRPr sz="2700" b="1">
                <a:solidFill>
                  <a:srgbClr val="1F165C"/>
                </a:solidFill>
                <a:latin typeface="Aptos"/>
              </a:defRPr>
            </a:pPr>
            <a:r>
              <a:t>7. Product Performance Table</a:t>
            </a:r>
          </a:p>
        </p:txBody>
      </p:sp>
      <p:sp>
        <p:nvSpPr>
          <p:cNvPr id="3" name="TextBox 2"/>
          <p:cNvSpPr txBox="1"/>
          <p:nvPr/>
        </p:nvSpPr>
        <p:spPr>
          <a:xfrm>
            <a:off x="530352" y="804672"/>
            <a:ext cx="10972800" cy="320040"/>
          </a:xfrm>
          <a:prstGeom prst="rect">
            <a:avLst/>
          </a:prstGeom>
          <a:noFill/>
        </p:spPr>
        <p:txBody>
          <a:bodyPr wrap="square" anchor="t">
            <a:spAutoFit/>
          </a:bodyPr>
          <a:lstStyle/>
          <a:p>
            <a:pPr>
              <a:spcAft>
                <a:spcPts val="700"/>
              </a:spcAft>
              <a:defRPr sz="1100" b="0">
                <a:solidFill>
                  <a:srgbClr val="5E5982"/>
                </a:solidFill>
                <a:latin typeface="Aptos"/>
              </a:defRPr>
            </a:pPr>
            <a:r>
              <a:t>Why a table is useful alongside charts</a:t>
            </a:r>
          </a:p>
        </p:txBody>
      </p:sp>
      <p:sp>
        <p:nvSpPr>
          <p:cNvPr id="4" name="Rectangle 3"/>
          <p:cNvSpPr/>
          <p:nvPr/>
        </p:nvSpPr>
        <p:spPr>
          <a:xfrm>
            <a:off x="530352" y="1143000"/>
            <a:ext cx="731520" cy="50292"/>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384280" y="6473952"/>
            <a:ext cx="320040" cy="182880"/>
          </a:xfrm>
          <a:prstGeom prst="rect">
            <a:avLst/>
          </a:prstGeom>
          <a:noFill/>
        </p:spPr>
        <p:txBody>
          <a:bodyPr wrap="square" anchor="t">
            <a:spAutoFit/>
          </a:bodyPr>
          <a:lstStyle/>
          <a:p>
            <a:pPr algn="r">
              <a:spcAft>
                <a:spcPts val="700"/>
              </a:spcAft>
              <a:defRPr sz="900" b="0">
                <a:solidFill>
                  <a:srgbClr val="5E5982"/>
                </a:solidFill>
                <a:latin typeface="Aptos"/>
              </a:defRPr>
            </a:pPr>
            <a:r>
              <a:t>8</a:t>
            </a:r>
          </a:p>
        </p:txBody>
      </p:sp>
      <p:sp>
        <p:nvSpPr>
          <p:cNvPr id="6" name="Rounded Rectangle 5"/>
          <p:cNvSpPr/>
          <p:nvPr/>
        </p:nvSpPr>
        <p:spPr>
          <a:xfrm>
            <a:off x="594360" y="1508760"/>
            <a:ext cx="5440680" cy="448056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508760"/>
            <a:ext cx="73152" cy="4480560"/>
          </a:xfrm>
          <a:prstGeom prst="rect">
            <a:avLst/>
          </a:prstGeom>
          <a:solidFill>
            <a:srgbClr val="673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655063"/>
            <a:ext cx="5074920" cy="347472"/>
          </a:xfrm>
          <a:prstGeom prst="rect">
            <a:avLst/>
          </a:prstGeom>
          <a:noFill/>
        </p:spPr>
        <p:txBody>
          <a:bodyPr wrap="square" anchor="t">
            <a:spAutoFit/>
          </a:bodyPr>
          <a:lstStyle/>
          <a:p>
            <a:pPr>
              <a:spcAft>
                <a:spcPts val="700"/>
              </a:spcAft>
              <a:defRPr sz="1700" b="1">
                <a:solidFill>
                  <a:srgbClr val="1F165C"/>
                </a:solidFill>
                <a:latin typeface="Aptos"/>
              </a:defRPr>
            </a:pPr>
            <a:r>
              <a:t>Why use a table?</a:t>
            </a:r>
          </a:p>
        </p:txBody>
      </p:sp>
      <p:sp>
        <p:nvSpPr>
          <p:cNvPr id="9" name="TextBox 8"/>
          <p:cNvSpPr txBox="1"/>
          <p:nvPr/>
        </p:nvSpPr>
        <p:spPr>
          <a:xfrm>
            <a:off x="795528" y="2112264"/>
            <a:ext cx="5056632" cy="3794760"/>
          </a:xfrm>
          <a:prstGeom prst="rect">
            <a:avLst/>
          </a:prstGeom>
          <a:noFill/>
        </p:spPr>
        <p:txBody>
          <a:bodyPr wrap="square" anchor="t">
            <a:spAutoFit/>
          </a:bodyPr>
          <a:lstStyle/>
          <a:p>
            <a:pPr>
              <a:spcAft>
                <a:spcPts val="700"/>
              </a:spcAft>
              <a:defRPr sz="1600" b="0">
                <a:solidFill>
                  <a:srgbClr val="282546"/>
                </a:solidFill>
                <a:latin typeface="Aptos"/>
              </a:defRPr>
            </a:pPr>
            <a:r>
              <a:t>Charts reveal broad patterns, while a table gives exact values for individual products. Product, category, units sold and revenue can be checked together.</a:t>
            </a:r>
          </a:p>
        </p:txBody>
      </p:sp>
      <p:sp>
        <p:nvSpPr>
          <p:cNvPr id="10" name="Rounded Rectangle 9"/>
          <p:cNvSpPr/>
          <p:nvPr/>
        </p:nvSpPr>
        <p:spPr>
          <a:xfrm>
            <a:off x="6263640" y="1508760"/>
            <a:ext cx="5303520" cy="448056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508760"/>
            <a:ext cx="73152" cy="4480560"/>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1655063"/>
            <a:ext cx="4937759" cy="347472"/>
          </a:xfrm>
          <a:prstGeom prst="rect">
            <a:avLst/>
          </a:prstGeom>
          <a:noFill/>
        </p:spPr>
        <p:txBody>
          <a:bodyPr wrap="square" anchor="t">
            <a:spAutoFit/>
          </a:bodyPr>
          <a:lstStyle/>
          <a:p>
            <a:pPr>
              <a:spcAft>
                <a:spcPts val="700"/>
              </a:spcAft>
              <a:defRPr sz="1700" b="1">
                <a:solidFill>
                  <a:srgbClr val="1F165C"/>
                </a:solidFill>
                <a:latin typeface="Aptos"/>
              </a:defRPr>
            </a:pPr>
            <a:r>
              <a:t>How to interpret it</a:t>
            </a:r>
          </a:p>
        </p:txBody>
      </p:sp>
      <p:sp>
        <p:nvSpPr>
          <p:cNvPr id="13" name="TextBox 12"/>
          <p:cNvSpPr txBox="1"/>
          <p:nvPr/>
        </p:nvSpPr>
        <p:spPr>
          <a:xfrm>
            <a:off x="6464807" y="2112264"/>
            <a:ext cx="4919472" cy="3794760"/>
          </a:xfrm>
          <a:prstGeom prst="rect">
            <a:avLst/>
          </a:prstGeom>
          <a:noFill/>
        </p:spPr>
        <p:txBody>
          <a:bodyPr wrap="square" anchor="t">
            <a:spAutoFit/>
          </a:bodyPr>
          <a:lstStyle/>
          <a:p>
            <a:pPr>
              <a:spcAft>
                <a:spcPts val="700"/>
              </a:spcAft>
              <a:defRPr sz="1600" b="0">
                <a:solidFill>
                  <a:srgbClr val="282546"/>
                </a:solidFill>
                <a:latin typeface="Aptos"/>
              </a:defRPr>
            </a:pPr>
            <a:r>
              <a:t>The table includes products such as T-shirt (Men), Jeans (Women), Casual Shoes and Dress (Women). It helps identify high-selling products, compare revenue and spot products that may need inventory or marketing attention.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4FF"/>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anchor="t">
            <a:spAutoFit/>
          </a:bodyPr>
          <a:lstStyle/>
          <a:p>
            <a:pPr>
              <a:spcAft>
                <a:spcPts val="700"/>
              </a:spcAft>
              <a:defRPr sz="2700" b="1">
                <a:solidFill>
                  <a:srgbClr val="1F165C"/>
                </a:solidFill>
                <a:latin typeface="Aptos"/>
              </a:defRPr>
            </a:pPr>
            <a:r>
              <a:t>8. Key Insights from the Dashboard</a:t>
            </a:r>
          </a:p>
        </p:txBody>
      </p:sp>
      <p:sp>
        <p:nvSpPr>
          <p:cNvPr id="3" name="TextBox 2"/>
          <p:cNvSpPr txBox="1"/>
          <p:nvPr/>
        </p:nvSpPr>
        <p:spPr>
          <a:xfrm>
            <a:off x="530352" y="804672"/>
            <a:ext cx="10972800" cy="320040"/>
          </a:xfrm>
          <a:prstGeom prst="rect">
            <a:avLst/>
          </a:prstGeom>
          <a:noFill/>
        </p:spPr>
        <p:txBody>
          <a:bodyPr wrap="square" anchor="t">
            <a:spAutoFit/>
          </a:bodyPr>
          <a:lstStyle/>
          <a:p>
            <a:pPr>
              <a:spcAft>
                <a:spcPts val="700"/>
              </a:spcAft>
              <a:defRPr sz="1100" b="0">
                <a:solidFill>
                  <a:srgbClr val="5E5982"/>
                </a:solidFill>
                <a:latin typeface="Aptos"/>
              </a:defRPr>
            </a:pPr>
            <a:r>
              <a:t>Turning visuals into practical business observations</a:t>
            </a:r>
          </a:p>
        </p:txBody>
      </p:sp>
      <p:sp>
        <p:nvSpPr>
          <p:cNvPr id="4" name="Rectangle 3"/>
          <p:cNvSpPr/>
          <p:nvPr/>
        </p:nvSpPr>
        <p:spPr>
          <a:xfrm>
            <a:off x="530352" y="1143000"/>
            <a:ext cx="731520" cy="50292"/>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384280" y="6473952"/>
            <a:ext cx="320040" cy="182880"/>
          </a:xfrm>
          <a:prstGeom prst="rect">
            <a:avLst/>
          </a:prstGeom>
          <a:noFill/>
        </p:spPr>
        <p:txBody>
          <a:bodyPr wrap="square" anchor="t">
            <a:spAutoFit/>
          </a:bodyPr>
          <a:lstStyle/>
          <a:p>
            <a:pPr algn="r">
              <a:spcAft>
                <a:spcPts val="700"/>
              </a:spcAft>
              <a:defRPr sz="900" b="0">
                <a:solidFill>
                  <a:srgbClr val="5E5982"/>
                </a:solidFill>
                <a:latin typeface="Aptos"/>
              </a:defRPr>
            </a:pPr>
            <a:r>
              <a:t>9</a:t>
            </a:r>
          </a:p>
        </p:txBody>
      </p:sp>
      <p:sp>
        <p:nvSpPr>
          <p:cNvPr id="6" name="Rounded Rectangle 5"/>
          <p:cNvSpPr/>
          <p:nvPr/>
        </p:nvSpPr>
        <p:spPr>
          <a:xfrm>
            <a:off x="594360" y="1508760"/>
            <a:ext cx="5440680" cy="448056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508760"/>
            <a:ext cx="73152" cy="4480560"/>
          </a:xfrm>
          <a:prstGeom prst="rect">
            <a:avLst/>
          </a:prstGeom>
          <a:solidFill>
            <a:srgbClr val="673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655063"/>
            <a:ext cx="5074920" cy="347472"/>
          </a:xfrm>
          <a:prstGeom prst="rect">
            <a:avLst/>
          </a:prstGeom>
          <a:noFill/>
        </p:spPr>
        <p:txBody>
          <a:bodyPr wrap="square" anchor="t">
            <a:spAutoFit/>
          </a:bodyPr>
          <a:lstStyle/>
          <a:p>
            <a:pPr>
              <a:spcAft>
                <a:spcPts val="700"/>
              </a:spcAft>
              <a:defRPr sz="1700" b="1">
                <a:solidFill>
                  <a:srgbClr val="1F165C"/>
                </a:solidFill>
                <a:latin typeface="Aptos"/>
              </a:defRPr>
            </a:pPr>
            <a:r>
              <a:t>Category and geography</a:t>
            </a:r>
          </a:p>
        </p:txBody>
      </p:sp>
      <p:sp>
        <p:nvSpPr>
          <p:cNvPr id="9" name="TextBox 8"/>
          <p:cNvSpPr txBox="1"/>
          <p:nvPr/>
        </p:nvSpPr>
        <p:spPr>
          <a:xfrm>
            <a:off x="795528" y="2112264"/>
            <a:ext cx="5056632" cy="3794760"/>
          </a:xfrm>
          <a:prstGeom prst="rect">
            <a:avLst/>
          </a:prstGeom>
          <a:noFill/>
        </p:spPr>
        <p:txBody>
          <a:bodyPr wrap="square" anchor="t">
            <a:spAutoFit/>
          </a:bodyPr>
          <a:lstStyle/>
          <a:p>
            <a:pPr>
              <a:spcAft>
                <a:spcPts val="700"/>
              </a:spcAft>
              <a:defRPr sz="1500" b="0">
                <a:solidFill>
                  <a:srgbClr val="282546"/>
                </a:solidFill>
                <a:latin typeface="Aptos"/>
              </a:defRPr>
            </a:pPr>
            <a:r>
              <a:t>• Bottomwear is the largest revenue category in the displayed data.</a:t>
            </a:r>
          </a:p>
          <a:p>
            <a:pPr>
              <a:spcAft>
                <a:spcPts val="700"/>
              </a:spcAft>
              <a:defRPr sz="1500" b="0">
                <a:solidFill>
                  <a:srgbClr val="282546"/>
                </a:solidFill>
                <a:latin typeface="Aptos"/>
              </a:defRPr>
            </a:pPr>
            <a:r>
              <a:t>• Kanpur leads the cities shown.</a:t>
            </a:r>
          </a:p>
          <a:p>
            <a:pPr>
              <a:spcAft>
                <a:spcPts val="700"/>
              </a:spcAft>
              <a:defRPr sz="1500" b="0">
                <a:solidFill>
                  <a:srgbClr val="282546"/>
                </a:solidFill>
                <a:latin typeface="Aptos"/>
              </a:defRPr>
            </a:pPr>
            <a:r>
              <a:t>• Dresses and Jeans are highlighted as strong performers after Bottomwear.</a:t>
            </a:r>
          </a:p>
        </p:txBody>
      </p:sp>
      <p:sp>
        <p:nvSpPr>
          <p:cNvPr id="10" name="Rounded Rectangle 9"/>
          <p:cNvSpPr/>
          <p:nvPr/>
        </p:nvSpPr>
        <p:spPr>
          <a:xfrm>
            <a:off x="6263640" y="1508760"/>
            <a:ext cx="5303520" cy="448056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508760"/>
            <a:ext cx="73152" cy="4480560"/>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1655063"/>
            <a:ext cx="4937759" cy="347472"/>
          </a:xfrm>
          <a:prstGeom prst="rect">
            <a:avLst/>
          </a:prstGeom>
          <a:noFill/>
        </p:spPr>
        <p:txBody>
          <a:bodyPr wrap="square" anchor="t">
            <a:spAutoFit/>
          </a:bodyPr>
          <a:lstStyle/>
          <a:p>
            <a:pPr>
              <a:spcAft>
                <a:spcPts val="700"/>
              </a:spcAft>
              <a:defRPr sz="1700" b="1">
                <a:solidFill>
                  <a:srgbClr val="1F165C"/>
                </a:solidFill>
                <a:latin typeface="Aptos"/>
              </a:defRPr>
            </a:pPr>
            <a:r>
              <a:t>Channel and overall scale</a:t>
            </a:r>
          </a:p>
        </p:txBody>
      </p:sp>
      <p:sp>
        <p:nvSpPr>
          <p:cNvPr id="13" name="TextBox 12"/>
          <p:cNvSpPr txBox="1"/>
          <p:nvPr/>
        </p:nvSpPr>
        <p:spPr>
          <a:xfrm>
            <a:off x="6464807" y="2112264"/>
            <a:ext cx="4919472" cy="3794760"/>
          </a:xfrm>
          <a:prstGeom prst="rect">
            <a:avLst/>
          </a:prstGeom>
          <a:noFill/>
        </p:spPr>
        <p:txBody>
          <a:bodyPr wrap="square" anchor="t">
            <a:spAutoFit/>
          </a:bodyPr>
          <a:lstStyle/>
          <a:p>
            <a:pPr>
              <a:spcAft>
                <a:spcPts val="700"/>
              </a:spcAft>
              <a:defRPr sz="1500" b="0">
                <a:solidFill>
                  <a:srgbClr val="282546"/>
                </a:solidFill>
                <a:latin typeface="Aptos"/>
              </a:defRPr>
            </a:pPr>
            <a:r>
              <a:t>• In-Store accounts for 78.6% of sales; Online accounts for 21.4%.</a:t>
            </a:r>
          </a:p>
          <a:p>
            <a:pPr>
              <a:spcAft>
                <a:spcPts val="700"/>
              </a:spcAft>
              <a:defRPr sz="1500" b="0">
                <a:solidFill>
                  <a:srgbClr val="282546"/>
                </a:solidFill>
                <a:latin typeface="Aptos"/>
              </a:defRPr>
            </a:pPr>
            <a:r>
              <a:t>• The dashboard reports ₹7,47,756 sales from 350 orders and 1,643 units.</a:t>
            </a:r>
          </a:p>
          <a:p>
            <a:pPr>
              <a:spcAft>
                <a:spcPts val="700"/>
              </a:spcAft>
              <a:defRPr sz="1500" b="0">
                <a:solidFill>
                  <a:srgbClr val="282546"/>
                </a:solidFill>
                <a:latin typeface="Aptos"/>
              </a:defRPr>
            </a:pPr>
            <a:r>
              <a:t>• These insights can guide stock allocation, city-level campaigns and online-channel improvement.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4FF"/>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anchor="t">
            <a:spAutoFit/>
          </a:bodyPr>
          <a:lstStyle/>
          <a:p>
            <a:pPr>
              <a:spcAft>
                <a:spcPts val="700"/>
              </a:spcAft>
              <a:defRPr sz="2700" b="1">
                <a:solidFill>
                  <a:srgbClr val="1F165C"/>
                </a:solidFill>
                <a:latin typeface="Aptos"/>
              </a:defRPr>
            </a:pPr>
            <a:r>
              <a:t>9. How to Use the Dashboard &amp; Data Note</a:t>
            </a:r>
          </a:p>
        </p:txBody>
      </p:sp>
      <p:sp>
        <p:nvSpPr>
          <p:cNvPr id="3" name="TextBox 2"/>
          <p:cNvSpPr txBox="1"/>
          <p:nvPr/>
        </p:nvSpPr>
        <p:spPr>
          <a:xfrm>
            <a:off x="530352" y="804672"/>
            <a:ext cx="10972800" cy="320040"/>
          </a:xfrm>
          <a:prstGeom prst="rect">
            <a:avLst/>
          </a:prstGeom>
          <a:noFill/>
        </p:spPr>
        <p:txBody>
          <a:bodyPr wrap="square" anchor="t">
            <a:spAutoFit/>
          </a:bodyPr>
          <a:lstStyle/>
          <a:p>
            <a:pPr>
              <a:spcAft>
                <a:spcPts val="700"/>
              </a:spcAft>
              <a:defRPr sz="1100" b="0">
                <a:solidFill>
                  <a:srgbClr val="5E5982"/>
                </a:solidFill>
                <a:latin typeface="Aptos"/>
              </a:defRPr>
            </a:pPr>
            <a:r>
              <a:t>Good practice when presenting a Power BI report</a:t>
            </a:r>
          </a:p>
        </p:txBody>
      </p:sp>
      <p:sp>
        <p:nvSpPr>
          <p:cNvPr id="4" name="Rectangle 3"/>
          <p:cNvSpPr/>
          <p:nvPr/>
        </p:nvSpPr>
        <p:spPr>
          <a:xfrm>
            <a:off x="530352" y="1143000"/>
            <a:ext cx="731520" cy="50292"/>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384280" y="6473952"/>
            <a:ext cx="320040" cy="182880"/>
          </a:xfrm>
          <a:prstGeom prst="rect">
            <a:avLst/>
          </a:prstGeom>
          <a:noFill/>
        </p:spPr>
        <p:txBody>
          <a:bodyPr wrap="square" anchor="t">
            <a:spAutoFit/>
          </a:bodyPr>
          <a:lstStyle/>
          <a:p>
            <a:pPr algn="r">
              <a:spcAft>
                <a:spcPts val="700"/>
              </a:spcAft>
              <a:defRPr sz="900" b="0">
                <a:solidFill>
                  <a:srgbClr val="5E5982"/>
                </a:solidFill>
                <a:latin typeface="Aptos"/>
              </a:defRPr>
            </a:pPr>
            <a:r>
              <a:t>10</a:t>
            </a:r>
          </a:p>
        </p:txBody>
      </p:sp>
      <p:sp>
        <p:nvSpPr>
          <p:cNvPr id="6" name="Rounded Rectangle 5"/>
          <p:cNvSpPr/>
          <p:nvPr/>
        </p:nvSpPr>
        <p:spPr>
          <a:xfrm>
            <a:off x="594360" y="1508760"/>
            <a:ext cx="5440680" cy="448056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508760"/>
            <a:ext cx="73152" cy="4480560"/>
          </a:xfrm>
          <a:prstGeom prst="rect">
            <a:avLst/>
          </a:prstGeom>
          <a:solidFill>
            <a:srgbClr val="673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655063"/>
            <a:ext cx="5074920" cy="347472"/>
          </a:xfrm>
          <a:prstGeom prst="rect">
            <a:avLst/>
          </a:prstGeom>
          <a:noFill/>
        </p:spPr>
        <p:txBody>
          <a:bodyPr wrap="square" anchor="t">
            <a:spAutoFit/>
          </a:bodyPr>
          <a:lstStyle/>
          <a:p>
            <a:pPr>
              <a:spcAft>
                <a:spcPts val="700"/>
              </a:spcAft>
              <a:defRPr sz="1700" b="1">
                <a:solidFill>
                  <a:srgbClr val="1F165C"/>
                </a:solidFill>
                <a:latin typeface="Aptos"/>
              </a:defRPr>
            </a:pPr>
            <a:r>
              <a:t>How to explore</a:t>
            </a:r>
          </a:p>
        </p:txBody>
      </p:sp>
      <p:sp>
        <p:nvSpPr>
          <p:cNvPr id="9" name="TextBox 8"/>
          <p:cNvSpPr txBox="1"/>
          <p:nvPr/>
        </p:nvSpPr>
        <p:spPr>
          <a:xfrm>
            <a:off x="795528" y="2112264"/>
            <a:ext cx="5056632" cy="3794760"/>
          </a:xfrm>
          <a:prstGeom prst="rect">
            <a:avLst/>
          </a:prstGeom>
          <a:noFill/>
        </p:spPr>
        <p:txBody>
          <a:bodyPr wrap="square" anchor="t">
            <a:spAutoFit/>
          </a:bodyPr>
          <a:lstStyle/>
          <a:p>
            <a:pPr>
              <a:spcAft>
                <a:spcPts val="700"/>
              </a:spcAft>
              <a:defRPr sz="1500" b="0">
                <a:solidFill>
                  <a:srgbClr val="282546"/>
                </a:solidFill>
                <a:latin typeface="Aptos"/>
              </a:defRPr>
            </a:pPr>
            <a:r>
              <a:t>1. Select a City, Category or Sales Channel slicer.</a:t>
            </a:r>
          </a:p>
          <a:p>
            <a:pPr>
              <a:spcAft>
                <a:spcPts val="700"/>
              </a:spcAft>
              <a:defRPr sz="1500" b="0">
                <a:solidFill>
                  <a:srgbClr val="282546"/>
                </a:solidFill>
                <a:latin typeface="Aptos"/>
              </a:defRPr>
            </a:pPr>
            <a:r>
              <a:t>2. Observe how KPI cards and charts update.</a:t>
            </a:r>
          </a:p>
          <a:p>
            <a:pPr>
              <a:spcAft>
                <a:spcPts val="700"/>
              </a:spcAft>
              <a:defRPr sz="1500" b="0">
                <a:solidFill>
                  <a:srgbClr val="282546"/>
                </a:solidFill>
                <a:latin typeface="Aptos"/>
              </a:defRPr>
            </a:pPr>
            <a:r>
              <a:t>3. Compare trends and rankings before drawing conclusions.</a:t>
            </a:r>
          </a:p>
          <a:p>
            <a:pPr>
              <a:spcAft>
                <a:spcPts val="700"/>
              </a:spcAft>
              <a:defRPr sz="1500" b="0">
                <a:solidFill>
                  <a:srgbClr val="282546"/>
                </a:solidFill>
                <a:latin typeface="Aptos"/>
              </a:defRPr>
            </a:pPr>
            <a:r>
              <a:t>4. Clear filters to return to the overall view.</a:t>
            </a:r>
          </a:p>
        </p:txBody>
      </p:sp>
      <p:sp>
        <p:nvSpPr>
          <p:cNvPr id="10" name="Rounded Rectangle 9"/>
          <p:cNvSpPr/>
          <p:nvPr/>
        </p:nvSpPr>
        <p:spPr>
          <a:xfrm>
            <a:off x="6263640" y="1508760"/>
            <a:ext cx="5303520" cy="448056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508760"/>
            <a:ext cx="73152" cy="4480560"/>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1655063"/>
            <a:ext cx="4937759" cy="347472"/>
          </a:xfrm>
          <a:prstGeom prst="rect">
            <a:avLst/>
          </a:prstGeom>
          <a:noFill/>
        </p:spPr>
        <p:txBody>
          <a:bodyPr wrap="square" anchor="t">
            <a:spAutoFit/>
          </a:bodyPr>
          <a:lstStyle/>
          <a:p>
            <a:pPr>
              <a:spcAft>
                <a:spcPts val="700"/>
              </a:spcAft>
              <a:defRPr sz="1700" b="1">
                <a:solidFill>
                  <a:srgbClr val="1F165C"/>
                </a:solidFill>
                <a:latin typeface="Aptos"/>
              </a:defRPr>
            </a:pPr>
            <a:r>
              <a:t>Data note</a:t>
            </a:r>
          </a:p>
        </p:txBody>
      </p:sp>
      <p:sp>
        <p:nvSpPr>
          <p:cNvPr id="13" name="TextBox 12"/>
          <p:cNvSpPr txBox="1"/>
          <p:nvPr/>
        </p:nvSpPr>
        <p:spPr>
          <a:xfrm>
            <a:off x="6464807" y="2112264"/>
            <a:ext cx="4919472" cy="3794760"/>
          </a:xfrm>
          <a:prstGeom prst="rect">
            <a:avLst/>
          </a:prstGeom>
          <a:noFill/>
        </p:spPr>
        <p:txBody>
          <a:bodyPr wrap="square" anchor="t">
            <a:spAutoFit/>
          </a:bodyPr>
          <a:lstStyle/>
          <a:p>
            <a:pPr>
              <a:spcAft>
                <a:spcPts val="700"/>
              </a:spcAft>
              <a:defRPr sz="1500" b="0">
                <a:solidFill>
                  <a:srgbClr val="282546"/>
                </a:solidFill>
                <a:latin typeface="Aptos"/>
              </a:defRPr>
            </a:pPr>
            <a:r>
              <a:t>The figures shown are taken from the supplied dashboard image. Before final submission, verify that all visuals use the same date range and that KPI totals reconcile with the source dataset. The report is a descriptive analysis, not proof of why a trend occurred.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4FF"/>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square" anchor="t">
            <a:spAutoFit/>
          </a:bodyPr>
          <a:lstStyle/>
          <a:p>
            <a:pPr>
              <a:spcAft>
                <a:spcPts val="700"/>
              </a:spcAft>
              <a:defRPr sz="2700" b="1">
                <a:solidFill>
                  <a:srgbClr val="1F165C"/>
                </a:solidFill>
                <a:latin typeface="Aptos"/>
              </a:defRPr>
            </a:pPr>
            <a:r>
              <a:t>10. Conclusion</a:t>
            </a:r>
          </a:p>
        </p:txBody>
      </p:sp>
      <p:sp>
        <p:nvSpPr>
          <p:cNvPr id="3" name="TextBox 2"/>
          <p:cNvSpPr txBox="1"/>
          <p:nvPr/>
        </p:nvSpPr>
        <p:spPr>
          <a:xfrm>
            <a:off x="530352" y="804672"/>
            <a:ext cx="10972800" cy="320040"/>
          </a:xfrm>
          <a:prstGeom prst="rect">
            <a:avLst/>
          </a:prstGeom>
          <a:noFill/>
        </p:spPr>
        <p:txBody>
          <a:bodyPr wrap="square" anchor="t">
            <a:spAutoFit/>
          </a:bodyPr>
          <a:lstStyle/>
          <a:p>
            <a:pPr>
              <a:spcAft>
                <a:spcPts val="700"/>
              </a:spcAft>
              <a:defRPr sz="1100" b="0">
                <a:solidFill>
                  <a:srgbClr val="5E5982"/>
                </a:solidFill>
                <a:latin typeface="Aptos"/>
              </a:defRPr>
            </a:pPr>
            <a:r>
              <a:t>Summary and business value</a:t>
            </a:r>
          </a:p>
        </p:txBody>
      </p:sp>
      <p:sp>
        <p:nvSpPr>
          <p:cNvPr id="4" name="Rectangle 3"/>
          <p:cNvSpPr/>
          <p:nvPr/>
        </p:nvSpPr>
        <p:spPr>
          <a:xfrm>
            <a:off x="530352" y="1143000"/>
            <a:ext cx="731520" cy="50292"/>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384280" y="6473952"/>
            <a:ext cx="320040" cy="182880"/>
          </a:xfrm>
          <a:prstGeom prst="rect">
            <a:avLst/>
          </a:prstGeom>
          <a:noFill/>
        </p:spPr>
        <p:txBody>
          <a:bodyPr wrap="square" anchor="t">
            <a:spAutoFit/>
          </a:bodyPr>
          <a:lstStyle/>
          <a:p>
            <a:pPr algn="r">
              <a:spcAft>
                <a:spcPts val="700"/>
              </a:spcAft>
              <a:defRPr sz="900" b="0">
                <a:solidFill>
                  <a:srgbClr val="5E5982"/>
                </a:solidFill>
                <a:latin typeface="Aptos"/>
              </a:defRPr>
            </a:pPr>
            <a:r>
              <a:t>11</a:t>
            </a:r>
          </a:p>
        </p:txBody>
      </p:sp>
      <p:sp>
        <p:nvSpPr>
          <p:cNvPr id="6" name="Rounded Rectangle 5"/>
          <p:cNvSpPr/>
          <p:nvPr/>
        </p:nvSpPr>
        <p:spPr>
          <a:xfrm>
            <a:off x="594360" y="1508760"/>
            <a:ext cx="5440680" cy="448056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508760"/>
            <a:ext cx="73152" cy="4480560"/>
          </a:xfrm>
          <a:prstGeom prst="rect">
            <a:avLst/>
          </a:prstGeom>
          <a:solidFill>
            <a:srgbClr val="673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655063"/>
            <a:ext cx="5074920" cy="347472"/>
          </a:xfrm>
          <a:prstGeom prst="rect">
            <a:avLst/>
          </a:prstGeom>
          <a:noFill/>
        </p:spPr>
        <p:txBody>
          <a:bodyPr wrap="square" anchor="t">
            <a:spAutoFit/>
          </a:bodyPr>
          <a:lstStyle/>
          <a:p>
            <a:pPr>
              <a:spcAft>
                <a:spcPts val="700"/>
              </a:spcAft>
              <a:defRPr sz="1700" b="1">
                <a:solidFill>
                  <a:srgbClr val="1F165C"/>
                </a:solidFill>
                <a:latin typeface="Aptos"/>
              </a:defRPr>
            </a:pPr>
            <a:r>
              <a:t>Conclusion</a:t>
            </a:r>
          </a:p>
        </p:txBody>
      </p:sp>
      <p:sp>
        <p:nvSpPr>
          <p:cNvPr id="9" name="TextBox 8"/>
          <p:cNvSpPr txBox="1"/>
          <p:nvPr/>
        </p:nvSpPr>
        <p:spPr>
          <a:xfrm>
            <a:off x="795528" y="2112264"/>
            <a:ext cx="5056632" cy="3794760"/>
          </a:xfrm>
          <a:prstGeom prst="rect">
            <a:avLst/>
          </a:prstGeom>
          <a:noFill/>
        </p:spPr>
        <p:txBody>
          <a:bodyPr wrap="square" anchor="t">
            <a:spAutoFit/>
          </a:bodyPr>
          <a:lstStyle/>
          <a:p>
            <a:pPr>
              <a:spcAft>
                <a:spcPts val="700"/>
              </a:spcAft>
              <a:defRPr sz="1600" b="0">
                <a:solidFill>
                  <a:srgbClr val="282546"/>
                </a:solidFill>
                <a:latin typeface="Aptos"/>
              </a:defRPr>
            </a:pPr>
            <a:r>
              <a:t>The Zudio Retail Sales Analytics Dashboard converts sales data into an easy-to-read performance summary. KPI cards show the overall position, charts compare time, category, channel and city, and the product table provides detailed values.</a:t>
            </a:r>
          </a:p>
        </p:txBody>
      </p:sp>
      <p:sp>
        <p:nvSpPr>
          <p:cNvPr id="10" name="Rounded Rectangle 9"/>
          <p:cNvSpPr/>
          <p:nvPr/>
        </p:nvSpPr>
        <p:spPr>
          <a:xfrm>
            <a:off x="6263640" y="1508760"/>
            <a:ext cx="5303520" cy="4480560"/>
          </a:xfrm>
          <a:prstGeom prst="roundRect">
            <a:avLst/>
          </a:prstGeom>
          <a:solidFill>
            <a:srgbClr val="FFFFFF"/>
          </a:solidFill>
          <a:ln w="12700">
            <a:solidFill>
              <a:srgbClr val="E0DB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508760"/>
            <a:ext cx="73152" cy="4480560"/>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1655063"/>
            <a:ext cx="4937759" cy="347472"/>
          </a:xfrm>
          <a:prstGeom prst="rect">
            <a:avLst/>
          </a:prstGeom>
          <a:noFill/>
        </p:spPr>
        <p:txBody>
          <a:bodyPr wrap="square" anchor="t">
            <a:spAutoFit/>
          </a:bodyPr>
          <a:lstStyle/>
          <a:p>
            <a:pPr>
              <a:spcAft>
                <a:spcPts val="700"/>
              </a:spcAft>
              <a:defRPr sz="1700" b="1">
                <a:solidFill>
                  <a:srgbClr val="1F165C"/>
                </a:solidFill>
                <a:latin typeface="Aptos"/>
              </a:defRPr>
            </a:pPr>
            <a:r>
              <a:t>Final takeaway</a:t>
            </a:r>
          </a:p>
        </p:txBody>
      </p:sp>
      <p:sp>
        <p:nvSpPr>
          <p:cNvPr id="13" name="TextBox 12"/>
          <p:cNvSpPr txBox="1"/>
          <p:nvPr/>
        </p:nvSpPr>
        <p:spPr>
          <a:xfrm>
            <a:off x="6464807" y="2112264"/>
            <a:ext cx="4919472" cy="3794760"/>
          </a:xfrm>
          <a:prstGeom prst="rect">
            <a:avLst/>
          </a:prstGeom>
          <a:noFill/>
        </p:spPr>
        <p:txBody>
          <a:bodyPr wrap="square" anchor="t">
            <a:spAutoFit/>
          </a:bodyPr>
          <a:lstStyle/>
          <a:p>
            <a:pPr>
              <a:spcAft>
                <a:spcPts val="700"/>
              </a:spcAft>
              <a:defRPr sz="1600" b="0">
                <a:solidFill>
                  <a:srgbClr val="282546"/>
                </a:solidFill>
                <a:latin typeface="Aptos"/>
              </a:defRPr>
            </a:pPr>
            <a:r>
              <a:t>The displayed data points to Bottomwear as the leading category, In-Store as the main sales channel, and Kanpur as the strongest city among those shown. Using these insights with regular data checks can support better inventory planning, targeted promotions and informed retail decisions.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4FF"/>
        </a:solidFill>
        <a:effectLst/>
      </p:bgPr>
    </p:bg>
    <p:spTree>
      <p:nvGrpSpPr>
        <p:cNvPr id="1" name=""/>
        <p:cNvGrpSpPr/>
        <p:nvPr/>
      </p:nvGrpSpPr>
      <p:grpSpPr/>
      <p:sp>
        <p:nvSpPr>
          <p:cNvPr id="2" name="TextBox 1"/>
          <p:cNvSpPr txBox="1"/>
          <p:nvPr/>
        </p:nvSpPr>
        <p:spPr>
          <a:xfrm>
            <a:off x="731520" y="1417320"/>
            <a:ext cx="10789920" cy="914400"/>
          </a:xfrm>
          <a:prstGeom prst="rect">
            <a:avLst/>
          </a:prstGeom>
          <a:noFill/>
        </p:spPr>
        <p:txBody>
          <a:bodyPr wrap="square" anchor="t">
            <a:spAutoFit/>
          </a:bodyPr>
          <a:lstStyle/>
          <a:p>
            <a:pPr algn="ctr">
              <a:spcAft>
                <a:spcPts val="700"/>
              </a:spcAft>
              <a:defRPr sz="3800" b="1">
                <a:solidFill>
                  <a:srgbClr val="1F165C"/>
                </a:solidFill>
                <a:latin typeface="Aptos"/>
              </a:defRPr>
            </a:pPr>
            <a:r>
              <a:t>THANK YOU</a:t>
            </a:r>
          </a:p>
        </p:txBody>
      </p:sp>
      <p:sp>
        <p:nvSpPr>
          <p:cNvPr id="3" name="TextBox 2"/>
          <p:cNvSpPr txBox="1"/>
          <p:nvPr/>
        </p:nvSpPr>
        <p:spPr>
          <a:xfrm>
            <a:off x="1097280" y="2468880"/>
            <a:ext cx="9966960" cy="731520"/>
          </a:xfrm>
          <a:prstGeom prst="rect">
            <a:avLst/>
          </a:prstGeom>
          <a:noFill/>
        </p:spPr>
        <p:txBody>
          <a:bodyPr wrap="square" anchor="t">
            <a:spAutoFit/>
          </a:bodyPr>
          <a:lstStyle/>
          <a:p>
            <a:pPr algn="ctr">
              <a:spcAft>
                <a:spcPts val="700"/>
              </a:spcAft>
              <a:defRPr sz="2200" b="1">
                <a:solidFill>
                  <a:srgbClr val="673FBE"/>
                </a:solidFill>
                <a:latin typeface="Aptos"/>
              </a:defRPr>
            </a:pPr>
            <a:r>
              <a:t>Questions &amp; Discussion</a:t>
            </a:r>
          </a:p>
        </p:txBody>
      </p:sp>
      <p:sp>
        <p:nvSpPr>
          <p:cNvPr id="4" name="Rectangle 3"/>
          <p:cNvSpPr/>
          <p:nvPr/>
        </p:nvSpPr>
        <p:spPr>
          <a:xfrm>
            <a:off x="5394960" y="3337560"/>
            <a:ext cx="1371600" cy="64008"/>
          </a:xfrm>
          <a:prstGeom prst="rect">
            <a:avLst/>
          </a:prstGeom>
          <a:solidFill>
            <a:srgbClr val="EC49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3840480"/>
            <a:ext cx="8503920" cy="914400"/>
          </a:xfrm>
          <a:prstGeom prst="rect">
            <a:avLst/>
          </a:prstGeom>
          <a:noFill/>
        </p:spPr>
        <p:txBody>
          <a:bodyPr wrap="square" anchor="t">
            <a:spAutoFit/>
          </a:bodyPr>
          <a:lstStyle/>
          <a:p>
            <a:pPr algn="ctr">
              <a:spcAft>
                <a:spcPts val="700"/>
              </a:spcAft>
              <a:defRPr sz="1600" b="0">
                <a:solidFill>
                  <a:srgbClr val="282546"/>
                </a:solidFill>
                <a:latin typeface="Aptos"/>
              </a:defRPr>
            </a:pPr>
            <a:r>
              <a:t>Ashi  |  BBABA22  |  Roll No. 1250645037</a:t>
            </a:r>
          </a:p>
          <a:p>
            <a:pPr algn="ctr">
              <a:spcAft>
                <a:spcPts val="700"/>
              </a:spcAft>
              <a:defRPr sz="1600" b="0">
                <a:solidFill>
                  <a:srgbClr val="282546"/>
                </a:solidFill>
                <a:latin typeface="Aptos"/>
              </a:defRPr>
            </a:pPr>
            <a:r>
              <a:t>BBDU</a:t>
            </a:r>
          </a:p>
        </p:txBody>
      </p:sp>
      <p:sp>
        <p:nvSpPr>
          <p:cNvPr id="6" name="TextBox 5"/>
          <p:cNvSpPr txBox="1"/>
          <p:nvPr/>
        </p:nvSpPr>
        <p:spPr>
          <a:xfrm>
            <a:off x="731520" y="6172200"/>
            <a:ext cx="10789920" cy="228600"/>
          </a:xfrm>
          <a:prstGeom prst="rect">
            <a:avLst/>
          </a:prstGeom>
          <a:noFill/>
        </p:spPr>
        <p:txBody>
          <a:bodyPr wrap="square" anchor="t">
            <a:spAutoFit/>
          </a:bodyPr>
          <a:lstStyle/>
          <a:p>
            <a:pPr algn="ctr">
              <a:spcAft>
                <a:spcPts val="700"/>
              </a:spcAft>
              <a:defRPr sz="1000" b="0">
                <a:solidFill>
                  <a:srgbClr val="5E5982"/>
                </a:solidFill>
                <a:latin typeface="Aptos"/>
              </a:defRPr>
            </a:pPr>
            <a:r>
              <a:t>Zudio Retail Sales Analytics • Jan–Dec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